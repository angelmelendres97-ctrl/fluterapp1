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73" r:id="rId2"/>
    <p:sldId id="256" r:id="rId3"/>
    <p:sldId id="258" r:id="rId4"/>
    <p:sldId id="257" r:id="rId5"/>
    <p:sldId id="259" r:id="rId6"/>
    <p:sldId id="260" r:id="rId7"/>
    <p:sldId id="272" r:id="rId8"/>
    <p:sldId id="261" r:id="rId9"/>
    <p:sldId id="262" r:id="rId10"/>
    <p:sldId id="263" r:id="rId11"/>
    <p:sldId id="264" r:id="rId12"/>
    <p:sldId id="265" r:id="rId13"/>
    <p:sldId id="268" r:id="rId14"/>
    <p:sldId id="269" r:id="rId15"/>
    <p:sldId id="266" r:id="rId16"/>
    <p:sldId id="267" r:id="rId17"/>
    <p:sldId id="270" r:id="rId18"/>
    <p:sldId id="274" r:id="rId19"/>
    <p:sldId id="275" r:id="rId20"/>
    <p:sldId id="276" r:id="rId21"/>
    <p:sldId id="277" r:id="rId22"/>
    <p:sldId id="278" r:id="rId23"/>
    <p:sldId id="279" r:id="rId24"/>
    <p:sldId id="280" r:id="rId25"/>
    <p:sldId id="281" r:id="rId26"/>
    <p:sldId id="282" r:id="rId27"/>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444" autoAdjust="0"/>
    <p:restoredTop sz="94660"/>
  </p:normalViewPr>
  <p:slideViewPr>
    <p:cSldViewPr>
      <p:cViewPr varScale="1">
        <p:scale>
          <a:sx n="69" d="100"/>
          <a:sy n="69" d="100"/>
        </p:scale>
        <p:origin x="1260"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28716109089730768"/>
          <c:y val="0.12004100993609407"/>
          <c:w val="0.42651768851080046"/>
          <c:h val="0.67855108225067262"/>
        </c:manualLayout>
      </c:layout>
      <c:pie3DChart>
        <c:varyColors val="1"/>
        <c:ser>
          <c:idx val="0"/>
          <c:order val="0"/>
          <c:tx>
            <c:strRef>
              <c:f>Hoja1!$B$1</c:f>
              <c:strCache>
                <c:ptCount val="1"/>
                <c:pt idx="0">
                  <c:v>Ventas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8497-4A37-A52B-221B44C7916D}"/>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8497-4A37-A52B-221B44C7916D}"/>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8497-4A37-A52B-221B44C7916D}"/>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8497-4A37-A52B-221B44C7916D}"/>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09-8497-4A37-A52B-221B44C7916D}"/>
              </c:ext>
            </c:extLst>
          </c:dPt>
          <c:dPt>
            <c:idx val="5"/>
            <c:bubble3D val="0"/>
            <c:spPr>
              <a:solidFill>
                <a:schemeClr val="accent6"/>
              </a:solidFill>
              <a:ln w="25400">
                <a:solidFill>
                  <a:schemeClr val="lt1"/>
                </a:solidFill>
              </a:ln>
              <a:effectLst/>
              <a:sp3d contourW="25400">
                <a:contourClr>
                  <a:schemeClr val="lt1"/>
                </a:contourClr>
              </a:sp3d>
            </c:spPr>
            <c:extLst>
              <c:ext xmlns:c16="http://schemas.microsoft.com/office/drawing/2014/chart" uri="{C3380CC4-5D6E-409C-BE32-E72D297353CC}">
                <c16:uniqueId val="{0000000B-8497-4A37-A52B-221B44C7916D}"/>
              </c:ext>
            </c:extLst>
          </c:dPt>
          <c:dPt>
            <c:idx val="6"/>
            <c:bubble3D val="0"/>
            <c:spPr>
              <a:solidFill>
                <a:schemeClr val="accent1">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D-8497-4A37-A52B-221B44C7916D}"/>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it-IT"/>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Hoja1!$A$2:$A$8</c:f>
              <c:strCache>
                <c:ptCount val="7"/>
                <c:pt idx="0">
                  <c:v>AMED MACHALA</c:v>
                </c:pt>
                <c:pt idx="1">
                  <c:v>AMED PASAJE</c:v>
                </c:pt>
                <c:pt idx="2">
                  <c:v>AMED EL GUABO</c:v>
                </c:pt>
                <c:pt idx="3">
                  <c:v>AMED STA ROSA</c:v>
                </c:pt>
                <c:pt idx="4">
                  <c:v>AMED HUAQUILLAS</c:v>
                </c:pt>
                <c:pt idx="5">
                  <c:v>AMED PIÑAS</c:v>
                </c:pt>
                <c:pt idx="6">
                  <c:v>AMED ZARUMA</c:v>
                </c:pt>
              </c:strCache>
            </c:strRef>
          </c:cat>
          <c:val>
            <c:numRef>
              <c:f>Hoja1!$B$2:$B$8</c:f>
              <c:numCache>
                <c:formatCode>General</c:formatCode>
                <c:ptCount val="7"/>
                <c:pt idx="0">
                  <c:v>1000</c:v>
                </c:pt>
                <c:pt idx="1">
                  <c:v>700</c:v>
                </c:pt>
                <c:pt idx="2">
                  <c:v>400</c:v>
                </c:pt>
                <c:pt idx="3">
                  <c:v>300</c:v>
                </c:pt>
                <c:pt idx="4">
                  <c:v>200</c:v>
                </c:pt>
                <c:pt idx="5">
                  <c:v>100</c:v>
                </c:pt>
                <c:pt idx="6">
                  <c:v>100</c:v>
                </c:pt>
              </c:numCache>
            </c:numRef>
          </c:val>
          <c:extLst>
            <c:ext xmlns:c16="http://schemas.microsoft.com/office/drawing/2014/chart" uri="{C3380CC4-5D6E-409C-BE32-E72D297353CC}">
              <c16:uniqueId val="{00000000-B1F5-4435-8E86-80D20C20448E}"/>
            </c:ext>
          </c:extLst>
        </c:ser>
        <c:dLbls>
          <c:showLegendKey val="0"/>
          <c:showVal val="1"/>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30185852365610177"/>
          <c:y val="0.13921153306562312"/>
          <c:w val="0.42651768851080046"/>
          <c:h val="0.67855108225067262"/>
        </c:manualLayout>
      </c:layout>
      <c:pie3DChart>
        <c:varyColors val="1"/>
        <c:ser>
          <c:idx val="0"/>
          <c:order val="0"/>
          <c:tx>
            <c:strRef>
              <c:f>Hoja1!$B$1</c:f>
              <c:strCache>
                <c:ptCount val="1"/>
                <c:pt idx="0">
                  <c:v>Ventas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7A74-414E-A214-CBEAA0256F06}"/>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7A74-414E-A214-CBEAA0256F06}"/>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7A74-414E-A214-CBEAA0256F06}"/>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7A74-414E-A214-CBEAA0256F06}"/>
              </c:ext>
            </c:extLst>
          </c:dPt>
          <c:dPt>
            <c:idx val="4"/>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09-7A74-414E-A214-CBEAA0256F06}"/>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it-IT"/>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Hoja1!$A$2:$A$6</c:f>
              <c:strCache>
                <c:ptCount val="5"/>
                <c:pt idx="0">
                  <c:v>AMED EL ORO</c:v>
                </c:pt>
                <c:pt idx="1">
                  <c:v>AMED GUAYAS</c:v>
                </c:pt>
                <c:pt idx="2">
                  <c:v>AMED AZUAY</c:v>
                </c:pt>
                <c:pt idx="3">
                  <c:v>AMED QUITO</c:v>
                </c:pt>
                <c:pt idx="4">
                  <c:v>AMED LOJA</c:v>
                </c:pt>
              </c:strCache>
            </c:strRef>
          </c:cat>
          <c:val>
            <c:numRef>
              <c:f>Hoja1!$B$2:$B$6</c:f>
              <c:numCache>
                <c:formatCode>General</c:formatCode>
                <c:ptCount val="5"/>
                <c:pt idx="0">
                  <c:v>1000</c:v>
                </c:pt>
                <c:pt idx="1">
                  <c:v>700</c:v>
                </c:pt>
                <c:pt idx="2">
                  <c:v>400</c:v>
                </c:pt>
                <c:pt idx="3">
                  <c:v>300</c:v>
                </c:pt>
                <c:pt idx="4">
                  <c:v>200</c:v>
                </c:pt>
              </c:numCache>
            </c:numRef>
          </c:val>
          <c:extLst>
            <c:ext xmlns:c16="http://schemas.microsoft.com/office/drawing/2014/chart" uri="{C3380CC4-5D6E-409C-BE32-E72D297353CC}">
              <c16:uniqueId val="{0000000A-7A74-414E-A214-CBEAA0256F06}"/>
            </c:ext>
          </c:extLst>
        </c:ser>
        <c:dLbls>
          <c:showLegendKey val="0"/>
          <c:showVal val="1"/>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sp>
        <p:nvSpPr>
          <p:cNvPr id="28" name="Segnaposto data 27"/>
          <p:cNvSpPr>
            <a:spLocks noGrp="1"/>
          </p:cNvSpPr>
          <p:nvPr>
            <p:ph type="dt" sz="half" idx="10"/>
          </p:nvPr>
        </p:nvSpPr>
        <p:spPr/>
        <p:txBody>
          <a:bodyPr/>
          <a:lstStyle/>
          <a:p>
            <a:fld id="{1B1CE6A6-DAA6-487B-8453-CCF5B9F17E1F}" type="datetimeFigureOut">
              <a:rPr lang="it-IT" smtClean="0"/>
              <a:pPr/>
              <a:t>16/02/2026</a:t>
            </a:fld>
            <a:endParaRPr lang="it-IT" dirty="0"/>
          </a:p>
        </p:txBody>
      </p:sp>
      <p:sp>
        <p:nvSpPr>
          <p:cNvPr id="17" name="Segnaposto piè di pagina 16"/>
          <p:cNvSpPr>
            <a:spLocks noGrp="1"/>
          </p:cNvSpPr>
          <p:nvPr>
            <p:ph type="ftr" sz="quarter" idx="11"/>
          </p:nvPr>
        </p:nvSpPr>
        <p:spPr/>
        <p:txBody>
          <a:bodyPr/>
          <a:lstStyle/>
          <a:p>
            <a:endParaRPr lang="it-IT" dirty="0"/>
          </a:p>
        </p:txBody>
      </p:sp>
      <p:sp>
        <p:nvSpPr>
          <p:cNvPr id="29" name="Segnaposto numero diapositiva 28"/>
          <p:cNvSpPr>
            <a:spLocks noGrp="1"/>
          </p:cNvSpPr>
          <p:nvPr>
            <p:ph type="sldNum" sz="quarter" idx="12"/>
          </p:nvPr>
        </p:nvSpPr>
        <p:spPr/>
        <p:txBody>
          <a:bodyPr/>
          <a:lstStyle/>
          <a:p>
            <a:fld id="{9230E590-313B-4AAA-A6F3-4810B181FF54}" type="slidenum">
              <a:rPr lang="it-IT" smtClean="0"/>
              <a:pPr/>
              <a:t>‹Nº›</a:t>
            </a:fld>
            <a:endParaRPr lang="it-IT" dirty="0"/>
          </a:p>
        </p:txBody>
      </p:sp>
      <p:sp>
        <p:nvSpPr>
          <p:cNvPr id="32" name="Rettangolo 31"/>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9" name="Rettangolo 38"/>
          <p:cNvSpPr/>
          <p:nvPr/>
        </p:nvSpPr>
        <p:spPr>
          <a:xfrm>
            <a:off x="309558" y="680477"/>
            <a:ext cx="4572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ttangolo 39"/>
          <p:cNvSpPr/>
          <p:nvPr/>
        </p:nvSpPr>
        <p:spPr>
          <a:xfrm>
            <a:off x="269073"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1" name="Rettangolo 40"/>
          <p:cNvSpPr/>
          <p:nvPr/>
        </p:nvSpPr>
        <p:spPr>
          <a:xfrm>
            <a:off x="25002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2" name="Rettangolo 41"/>
          <p:cNvSpPr/>
          <p:nvPr/>
        </p:nvSpPr>
        <p:spPr>
          <a:xfrm>
            <a:off x="221768"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olo 7"/>
          <p:cNvSpPr>
            <a:spLocks noGrp="1"/>
          </p:cNvSpPr>
          <p:nvPr>
            <p:ph type="ctrTitle"/>
          </p:nvPr>
        </p:nvSpPr>
        <p:spPr>
          <a:xfrm>
            <a:off x="914400" y="4343400"/>
            <a:ext cx="7772400" cy="1975104"/>
          </a:xfrm>
        </p:spPr>
        <p:txBody>
          <a:bodyPr/>
          <a:lstStyle>
            <a:lvl1pPr marR="9144" algn="l">
              <a:defRPr sz="4000" b="1" cap="all" spc="0" baseline="0">
                <a:effectLst>
                  <a:reflection blurRad="12700" stA="34000" endA="740" endPos="53000" dir="5400000" sy="-100000" algn="bl" rotWithShape="0"/>
                </a:effectLst>
              </a:defRPr>
            </a:lvl1pPr>
            <a:extLst/>
          </a:lstStyle>
          <a:p>
            <a:r>
              <a:rPr kumimoji="0" lang="it-IT"/>
              <a:t>Fare clic per modificare lo stile del titolo</a:t>
            </a:r>
            <a:endParaRPr kumimoji="0" lang="en-US"/>
          </a:p>
        </p:txBody>
      </p:sp>
      <p:sp>
        <p:nvSpPr>
          <p:cNvPr id="9" name="Sottotitolo 8"/>
          <p:cNvSpPr>
            <a:spLocks noGrp="1"/>
          </p:cNvSpPr>
          <p:nvPr>
            <p:ph type="subTitle" idx="1"/>
          </p:nvPr>
        </p:nvSpPr>
        <p:spPr>
          <a:xfrm>
            <a:off x="914400" y="2834640"/>
            <a:ext cx="77724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it-IT"/>
              <a:t>Fare clic per modificare lo stile del sottotitolo dello schema</a:t>
            </a:r>
            <a:endParaRPr kumimoji="0" lang="en-US"/>
          </a:p>
        </p:txBody>
      </p:sp>
      <p:sp>
        <p:nvSpPr>
          <p:cNvPr id="56" name="Rettangolo 55"/>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5" name="Rettangolo 64"/>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6" name="Rettangolo 65"/>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7" name="Rettangolo 66"/>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kumimoji="0" lang="it-IT"/>
              <a:t>Fare clic per modificare lo stile del titolo</a:t>
            </a:r>
            <a:endParaRPr kumimoji="0" lang="en-US"/>
          </a:p>
        </p:txBody>
      </p:sp>
      <p:sp>
        <p:nvSpPr>
          <p:cNvPr id="3" name="Segnaposto contenuto 2"/>
          <p:cNvSpPr>
            <a:spLocks noGrp="1"/>
          </p:cNvSpPr>
          <p:nvPr>
            <p:ph idx="1"/>
          </p:nvPr>
        </p:nvSpPr>
        <p:spPr/>
        <p:txBody>
          <a:bodyPr/>
          <a:lstStyle/>
          <a:p>
            <a:pPr lvl="0" eaLnBrk="1" latinLnBrk="0" hangingPunct="1"/>
            <a:r>
              <a:rPr lang="it-IT"/>
              <a:t>Fare clic per modificare stili del testo dello schema</a:t>
            </a:r>
          </a:p>
          <a:p>
            <a:pPr lvl="1" eaLnBrk="1" latinLnBrk="0" hangingPunct="1"/>
            <a:r>
              <a:rPr lang="it-IT"/>
              <a:t>Secondo livello</a:t>
            </a:r>
          </a:p>
          <a:p>
            <a:pPr lvl="2" eaLnBrk="1" latinLnBrk="0" hangingPunct="1"/>
            <a:r>
              <a:rPr lang="it-IT"/>
              <a:t>Terzo livello</a:t>
            </a:r>
          </a:p>
          <a:p>
            <a:pPr lvl="3" eaLnBrk="1" latinLnBrk="0" hangingPunct="1"/>
            <a:r>
              <a:rPr lang="it-IT"/>
              <a:t>Quarto livello</a:t>
            </a:r>
          </a:p>
          <a:p>
            <a:pPr lvl="4" eaLnBrk="1" latinLnBrk="0" hangingPunct="1"/>
            <a:r>
              <a:rPr lang="it-IT"/>
              <a:t>Quinto livello</a:t>
            </a:r>
            <a:endParaRPr kumimoji="0" lang="en-US"/>
          </a:p>
        </p:txBody>
      </p:sp>
      <p:sp>
        <p:nvSpPr>
          <p:cNvPr id="4" name="Segnaposto data 3"/>
          <p:cNvSpPr>
            <a:spLocks noGrp="1"/>
          </p:cNvSpPr>
          <p:nvPr>
            <p:ph type="dt" sz="half" idx="10"/>
          </p:nvPr>
        </p:nvSpPr>
        <p:spPr/>
        <p:txBody>
          <a:bodyPr/>
          <a:lstStyle/>
          <a:p>
            <a:fld id="{1B1CE6A6-DAA6-487B-8453-CCF5B9F17E1F}" type="datetimeFigureOut">
              <a:rPr lang="it-IT" smtClean="0"/>
              <a:pPr/>
              <a:t>16/02/2026</a:t>
            </a:fld>
            <a:endParaRPr lang="it-IT" dirty="0"/>
          </a:p>
        </p:txBody>
      </p:sp>
      <p:sp>
        <p:nvSpPr>
          <p:cNvPr id="5" name="Segnaposto piè di pagina 4"/>
          <p:cNvSpPr>
            <a:spLocks noGrp="1"/>
          </p:cNvSpPr>
          <p:nvPr>
            <p:ph type="ftr" sz="quarter" idx="11"/>
          </p:nvPr>
        </p:nvSpPr>
        <p:spPr/>
        <p:txBody>
          <a:bodyPr/>
          <a:lstStyle/>
          <a:p>
            <a:endParaRPr lang="it-IT" dirty="0"/>
          </a:p>
        </p:txBody>
      </p:sp>
      <p:sp>
        <p:nvSpPr>
          <p:cNvPr id="6" name="Segnaposto numero diapositiva 5"/>
          <p:cNvSpPr>
            <a:spLocks noGrp="1"/>
          </p:cNvSpPr>
          <p:nvPr>
            <p:ph type="sldNum" sz="quarter" idx="12"/>
          </p:nvPr>
        </p:nvSpPr>
        <p:spPr/>
        <p:txBody>
          <a:bodyPr/>
          <a:lstStyle/>
          <a:p>
            <a:fld id="{9230E590-313B-4AAA-A6F3-4810B181FF54}" type="slidenum">
              <a:rPr lang="it-IT" smtClean="0"/>
              <a:pPr/>
              <a:t>‹Nº›</a:t>
            </a:fld>
            <a:endParaRPr lang="it-IT"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14" name="Figura a mano libera 13"/>
          <p:cNvSpPr>
            <a:spLocks/>
          </p:cNvSpPr>
          <p:nvPr/>
        </p:nvSpPr>
        <p:spPr bwMode="auto">
          <a:xfrm>
            <a:off x="4828952" y="1073888"/>
            <a:ext cx="4322136"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5" name="Figura a mano libera 14"/>
          <p:cNvSpPr>
            <a:spLocks/>
          </p:cNvSpPr>
          <p:nvPr/>
        </p:nvSpPr>
        <p:spPr bwMode="auto">
          <a:xfrm>
            <a:off x="373966" y="0"/>
            <a:ext cx="5514536"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igura a mano libera 12"/>
          <p:cNvSpPr>
            <a:spLocks/>
          </p:cNvSpPr>
          <p:nvPr/>
        </p:nvSpPr>
        <p:spPr bwMode="auto">
          <a:xfrm rot="5236414">
            <a:off x="4462128" y="1483600"/>
            <a:ext cx="4114800" cy="118872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6" name="Figura a mano libera 15"/>
          <p:cNvSpPr>
            <a:spLocks/>
          </p:cNvSpPr>
          <p:nvPr/>
        </p:nvSpPr>
        <p:spPr bwMode="auto">
          <a:xfrm>
            <a:off x="5943600" y="0"/>
            <a:ext cx="27432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Figura a mano libera 16"/>
          <p:cNvSpPr>
            <a:spLocks/>
          </p:cNvSpPr>
          <p:nvPr/>
        </p:nvSpPr>
        <p:spPr bwMode="auto">
          <a:xfrm>
            <a:off x="5943600" y="4267200"/>
            <a:ext cx="32004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8" name="Figura a mano libera 17"/>
          <p:cNvSpPr>
            <a:spLocks/>
          </p:cNvSpPr>
          <p:nvPr/>
        </p:nvSpPr>
        <p:spPr bwMode="auto">
          <a:xfrm>
            <a:off x="5943600" y="0"/>
            <a:ext cx="13716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9" name="Figura a mano libera 18"/>
          <p:cNvSpPr>
            <a:spLocks/>
          </p:cNvSpPr>
          <p:nvPr/>
        </p:nvSpPr>
        <p:spPr bwMode="auto">
          <a:xfrm>
            <a:off x="5948363" y="4246563"/>
            <a:ext cx="2090737"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Figura a mano libera 19"/>
          <p:cNvSpPr>
            <a:spLocks/>
          </p:cNvSpPr>
          <p:nvPr/>
        </p:nvSpPr>
        <p:spPr bwMode="auto">
          <a:xfrm>
            <a:off x="5943600" y="4267200"/>
            <a:ext cx="16002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1" name="Figura a mano libera 20"/>
          <p:cNvSpPr>
            <a:spLocks/>
          </p:cNvSpPr>
          <p:nvPr/>
        </p:nvSpPr>
        <p:spPr bwMode="auto">
          <a:xfrm>
            <a:off x="5943600" y="1371600"/>
            <a:ext cx="32004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Figura a mano libera 21"/>
          <p:cNvSpPr>
            <a:spLocks/>
          </p:cNvSpPr>
          <p:nvPr/>
        </p:nvSpPr>
        <p:spPr bwMode="auto">
          <a:xfrm>
            <a:off x="5943600" y="1752600"/>
            <a:ext cx="32004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3" name="Figura a mano libera 22"/>
          <p:cNvSpPr>
            <a:spLocks/>
          </p:cNvSpPr>
          <p:nvPr/>
        </p:nvSpPr>
        <p:spPr bwMode="auto">
          <a:xfrm>
            <a:off x="990600" y="4267200"/>
            <a:ext cx="4953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4" name="Figura a mano libera 23"/>
          <p:cNvSpPr>
            <a:spLocks/>
          </p:cNvSpPr>
          <p:nvPr/>
        </p:nvSpPr>
        <p:spPr bwMode="auto">
          <a:xfrm>
            <a:off x="533400" y="4267200"/>
            <a:ext cx="533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5" name="Figura a mano libera 24"/>
          <p:cNvSpPr>
            <a:spLocks/>
          </p:cNvSpPr>
          <p:nvPr/>
        </p:nvSpPr>
        <p:spPr bwMode="auto">
          <a:xfrm>
            <a:off x="366824" y="2438400"/>
            <a:ext cx="56388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6" name="Figura a mano libera 25"/>
          <p:cNvSpPr>
            <a:spLocks/>
          </p:cNvSpPr>
          <p:nvPr/>
        </p:nvSpPr>
        <p:spPr bwMode="auto">
          <a:xfrm>
            <a:off x="366824" y="2133600"/>
            <a:ext cx="56388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7" name="Figura a mano libera 26"/>
          <p:cNvSpPr>
            <a:spLocks/>
          </p:cNvSpPr>
          <p:nvPr/>
        </p:nvSpPr>
        <p:spPr bwMode="auto">
          <a:xfrm>
            <a:off x="4572000" y="4267200"/>
            <a:ext cx="13716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3" name="Segnaposto testo 2"/>
          <p:cNvSpPr>
            <a:spLocks noGrp="1"/>
          </p:cNvSpPr>
          <p:nvPr>
            <p:ph type="body" idx="1"/>
          </p:nvPr>
        </p:nvSpPr>
        <p:spPr>
          <a:xfrm>
            <a:off x="706902" y="1351672"/>
            <a:ext cx="5718048" cy="977486"/>
          </a:xfrm>
        </p:spPr>
        <p:txBody>
          <a:bodyPr lIns="82296" tIns="45720" bIns="0" anchor="t"/>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it-IT"/>
              <a:t>Fare clic per modificare stili del testo dello schema</a:t>
            </a:r>
          </a:p>
        </p:txBody>
      </p:sp>
      <p:sp>
        <p:nvSpPr>
          <p:cNvPr id="4" name="Segnaposto data 3"/>
          <p:cNvSpPr>
            <a:spLocks noGrp="1"/>
          </p:cNvSpPr>
          <p:nvPr>
            <p:ph type="dt" sz="half" idx="10"/>
          </p:nvPr>
        </p:nvSpPr>
        <p:spPr/>
        <p:txBody>
          <a:bodyPr/>
          <a:lstStyle/>
          <a:p>
            <a:fld id="{1B1CE6A6-DAA6-487B-8453-CCF5B9F17E1F}" type="datetimeFigureOut">
              <a:rPr lang="it-IT" smtClean="0"/>
              <a:pPr/>
              <a:t>16/02/2026</a:t>
            </a:fld>
            <a:endParaRPr lang="it-IT" dirty="0"/>
          </a:p>
        </p:txBody>
      </p:sp>
      <p:sp>
        <p:nvSpPr>
          <p:cNvPr id="5" name="Segnaposto piè di pagina 4"/>
          <p:cNvSpPr>
            <a:spLocks noGrp="1"/>
          </p:cNvSpPr>
          <p:nvPr>
            <p:ph type="ftr" sz="quarter" idx="11"/>
          </p:nvPr>
        </p:nvSpPr>
        <p:spPr/>
        <p:txBody>
          <a:bodyPr/>
          <a:lstStyle/>
          <a:p>
            <a:endParaRPr lang="it-IT" dirty="0"/>
          </a:p>
        </p:txBody>
      </p:sp>
      <p:sp>
        <p:nvSpPr>
          <p:cNvPr id="6" name="Segnaposto numero diapositiva 5"/>
          <p:cNvSpPr>
            <a:spLocks noGrp="1"/>
          </p:cNvSpPr>
          <p:nvPr>
            <p:ph type="sldNum" sz="quarter" idx="12"/>
          </p:nvPr>
        </p:nvSpPr>
        <p:spPr/>
        <p:txBody>
          <a:bodyPr/>
          <a:lstStyle/>
          <a:p>
            <a:fld id="{9230E590-313B-4AAA-A6F3-4810B181FF54}" type="slidenum">
              <a:rPr lang="it-IT" smtClean="0"/>
              <a:pPr/>
              <a:t>‹Nº›</a:t>
            </a:fld>
            <a:endParaRPr lang="it-IT" dirty="0"/>
          </a:p>
        </p:txBody>
      </p:sp>
      <p:sp>
        <p:nvSpPr>
          <p:cNvPr id="7" name="Rettangolo 6"/>
          <p:cNvSpPr/>
          <p:nvPr/>
        </p:nvSpPr>
        <p:spPr>
          <a:xfrm>
            <a:off x="363160" y="402264"/>
            <a:ext cx="850392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olo 1"/>
          <p:cNvSpPr>
            <a:spLocks noGrp="1"/>
          </p:cNvSpPr>
          <p:nvPr>
            <p:ph type="title"/>
          </p:nvPr>
        </p:nvSpPr>
        <p:spPr>
          <a:xfrm>
            <a:off x="706902" y="512064"/>
            <a:ext cx="8156448" cy="777240"/>
          </a:xfrm>
        </p:spPr>
        <p:txBody>
          <a:bodyPr tIns="64008"/>
          <a:lstStyle>
            <a:lvl1pPr algn="l">
              <a:buNone/>
              <a:defRPr sz="3800" b="0" cap="none" spc="-150" baseline="0"/>
            </a:lvl1pPr>
            <a:extLst/>
          </a:lstStyle>
          <a:p>
            <a:r>
              <a:rPr kumimoji="0" lang="it-IT"/>
              <a:t>Fare clic per modificare lo stile del titolo</a:t>
            </a:r>
            <a:endParaRPr kumimoji="0" lang="en-US"/>
          </a:p>
        </p:txBody>
      </p:sp>
      <p:sp>
        <p:nvSpPr>
          <p:cNvPr id="8" name="Rettangolo 7"/>
          <p:cNvSpPr/>
          <p:nvPr/>
        </p:nvSpPr>
        <p:spPr>
          <a:xfrm flipH="1">
            <a:off x="371538"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ttangolo 8"/>
          <p:cNvSpPr/>
          <p:nvPr/>
        </p:nvSpPr>
        <p:spPr>
          <a:xfrm flipH="1">
            <a:off x="411109"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ttangolo 9"/>
          <p:cNvSpPr/>
          <p:nvPr/>
        </p:nvSpPr>
        <p:spPr>
          <a:xfrm flipH="1">
            <a:off x="44845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ttangolo 10"/>
          <p:cNvSpPr/>
          <p:nvPr/>
        </p:nvSpPr>
        <p:spPr>
          <a:xfrm flipH="1">
            <a:off x="476702"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ttangolo 11"/>
          <p:cNvSpPr/>
          <p:nvPr/>
        </p:nvSpPr>
        <p:spPr>
          <a:xfrm>
            <a:off x="500478"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457200" y="512064"/>
            <a:ext cx="8229600" cy="914400"/>
          </a:xfrm>
        </p:spPr>
        <p:txBody>
          <a:bodyPr/>
          <a:lstStyle/>
          <a:p>
            <a:r>
              <a:rPr kumimoji="0" lang="it-IT"/>
              <a:t>Fare clic per modificare lo stile del titolo</a:t>
            </a:r>
            <a:endParaRPr kumimoji="0" lang="en-US"/>
          </a:p>
        </p:txBody>
      </p:sp>
      <p:sp>
        <p:nvSpPr>
          <p:cNvPr id="3" name="Segnaposto contenuto 2"/>
          <p:cNvSpPr>
            <a:spLocks noGrp="1"/>
          </p:cNvSpPr>
          <p:nvPr>
            <p:ph sz="half" idx="1"/>
          </p:nvPr>
        </p:nvSpPr>
        <p:spPr>
          <a:xfrm>
            <a:off x="464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it-IT"/>
              <a:t>Fare clic per modificare stili del testo dello schema</a:t>
            </a:r>
          </a:p>
          <a:p>
            <a:pPr lvl="1" eaLnBrk="1" latinLnBrk="0" hangingPunct="1"/>
            <a:r>
              <a:rPr lang="it-IT"/>
              <a:t>Secondo livello</a:t>
            </a:r>
          </a:p>
          <a:p>
            <a:pPr lvl="2" eaLnBrk="1" latinLnBrk="0" hangingPunct="1"/>
            <a:r>
              <a:rPr lang="it-IT"/>
              <a:t>Terzo livello</a:t>
            </a:r>
          </a:p>
          <a:p>
            <a:pPr lvl="3" eaLnBrk="1" latinLnBrk="0" hangingPunct="1"/>
            <a:r>
              <a:rPr lang="it-IT"/>
              <a:t>Quarto livello</a:t>
            </a:r>
          </a:p>
          <a:p>
            <a:pPr lvl="4" eaLnBrk="1" latinLnBrk="0" hangingPunct="1"/>
            <a:r>
              <a:rPr lang="it-IT"/>
              <a:t>Quinto livello</a:t>
            </a:r>
            <a:endParaRPr kumimoji="0" lang="en-US"/>
          </a:p>
        </p:txBody>
      </p:sp>
      <p:sp>
        <p:nvSpPr>
          <p:cNvPr id="4" name="Segnaposto contenuto 3"/>
          <p:cNvSpPr>
            <a:spLocks noGrp="1"/>
          </p:cNvSpPr>
          <p:nvPr>
            <p:ph sz="half" idx="2"/>
          </p:nvPr>
        </p:nvSpPr>
        <p:spPr>
          <a:xfrm>
            <a:off x="4655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it-IT"/>
              <a:t>Fare clic per modificare stili del testo dello schema</a:t>
            </a:r>
          </a:p>
          <a:p>
            <a:pPr lvl="1" eaLnBrk="1" latinLnBrk="0" hangingPunct="1"/>
            <a:r>
              <a:rPr lang="it-IT"/>
              <a:t>Secondo livello</a:t>
            </a:r>
          </a:p>
          <a:p>
            <a:pPr lvl="2" eaLnBrk="1" latinLnBrk="0" hangingPunct="1"/>
            <a:r>
              <a:rPr lang="it-IT"/>
              <a:t>Terzo livello</a:t>
            </a:r>
          </a:p>
          <a:p>
            <a:pPr lvl="3" eaLnBrk="1" latinLnBrk="0" hangingPunct="1"/>
            <a:r>
              <a:rPr lang="it-IT"/>
              <a:t>Quarto livello</a:t>
            </a:r>
          </a:p>
          <a:p>
            <a:pPr lvl="4" eaLnBrk="1" latinLnBrk="0" hangingPunct="1"/>
            <a:r>
              <a:rPr lang="it-IT"/>
              <a:t>Quinto livello</a:t>
            </a:r>
            <a:endParaRPr kumimoji="0" lang="en-US"/>
          </a:p>
        </p:txBody>
      </p:sp>
      <p:sp>
        <p:nvSpPr>
          <p:cNvPr id="5" name="Segnaposto data 4"/>
          <p:cNvSpPr>
            <a:spLocks noGrp="1"/>
          </p:cNvSpPr>
          <p:nvPr>
            <p:ph type="dt" sz="half" idx="10"/>
          </p:nvPr>
        </p:nvSpPr>
        <p:spPr/>
        <p:txBody>
          <a:bodyPr/>
          <a:lstStyle/>
          <a:p>
            <a:fld id="{1B1CE6A6-DAA6-487B-8453-CCF5B9F17E1F}" type="datetimeFigureOut">
              <a:rPr lang="it-IT" smtClean="0"/>
              <a:pPr/>
              <a:t>16/02/2026</a:t>
            </a:fld>
            <a:endParaRPr lang="it-IT" dirty="0"/>
          </a:p>
        </p:txBody>
      </p:sp>
      <p:sp>
        <p:nvSpPr>
          <p:cNvPr id="6" name="Segnaposto piè di pagina 5"/>
          <p:cNvSpPr>
            <a:spLocks noGrp="1"/>
          </p:cNvSpPr>
          <p:nvPr>
            <p:ph type="ftr" sz="quarter" idx="11"/>
          </p:nvPr>
        </p:nvSpPr>
        <p:spPr/>
        <p:txBody>
          <a:bodyPr/>
          <a:lstStyle/>
          <a:p>
            <a:endParaRPr lang="it-IT" dirty="0"/>
          </a:p>
        </p:txBody>
      </p:sp>
      <p:sp>
        <p:nvSpPr>
          <p:cNvPr id="7" name="Segnaposto numero diapositiva 6"/>
          <p:cNvSpPr>
            <a:spLocks noGrp="1"/>
          </p:cNvSpPr>
          <p:nvPr>
            <p:ph type="sldNum" sz="quarter" idx="12"/>
          </p:nvPr>
        </p:nvSpPr>
        <p:spPr/>
        <p:txBody>
          <a:bodyPr/>
          <a:lstStyle/>
          <a:p>
            <a:fld id="{9230E590-313B-4AAA-A6F3-4810B181FF54}" type="slidenum">
              <a:rPr lang="it-IT" smtClean="0"/>
              <a:pPr/>
              <a:t>‹Nº›</a:t>
            </a:fld>
            <a:endParaRPr lang="it-IT"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nfronto">
    <p:spTree>
      <p:nvGrpSpPr>
        <p:cNvPr id="1" name=""/>
        <p:cNvGrpSpPr/>
        <p:nvPr/>
      </p:nvGrpSpPr>
      <p:grpSpPr>
        <a:xfrm>
          <a:off x="0" y="0"/>
          <a:ext cx="0" cy="0"/>
          <a:chOff x="0" y="0"/>
          <a:chExt cx="0" cy="0"/>
        </a:xfrm>
      </p:grpSpPr>
      <p:sp>
        <p:nvSpPr>
          <p:cNvPr id="25" name="Rettangolo 24"/>
          <p:cNvSpPr/>
          <p:nvPr/>
        </p:nvSpPr>
        <p:spPr>
          <a:xfrm>
            <a:off x="0" y="402265"/>
            <a:ext cx="886708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olo 1"/>
          <p:cNvSpPr>
            <a:spLocks noGrp="1"/>
          </p:cNvSpPr>
          <p:nvPr>
            <p:ph type="title"/>
          </p:nvPr>
        </p:nvSpPr>
        <p:spPr>
          <a:xfrm>
            <a:off x="504824" y="512064"/>
            <a:ext cx="7772400" cy="914400"/>
          </a:xfrm>
        </p:spPr>
        <p:txBody>
          <a:bodyPr anchor="t"/>
          <a:lstStyle>
            <a:lvl1pPr>
              <a:defRPr sz="4000"/>
            </a:lvl1pPr>
            <a:extLst/>
          </a:lstStyle>
          <a:p>
            <a:r>
              <a:rPr kumimoji="0" lang="it-IT"/>
              <a:t>Fare clic per modificare lo stile del titolo</a:t>
            </a:r>
            <a:endParaRPr kumimoji="0" lang="en-US"/>
          </a:p>
        </p:txBody>
      </p:sp>
      <p:sp>
        <p:nvSpPr>
          <p:cNvPr id="3" name="Segnaposto testo 2"/>
          <p:cNvSpPr>
            <a:spLocks noGrp="1"/>
          </p:cNvSpPr>
          <p:nvPr>
            <p:ph type="body" idx="1"/>
          </p:nvPr>
        </p:nvSpPr>
        <p:spPr>
          <a:xfrm>
            <a:off x="457200" y="1809750"/>
            <a:ext cx="4040188"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it-IT"/>
              <a:t>Fare clic per modificare stili del testo dello schema</a:t>
            </a:r>
          </a:p>
        </p:txBody>
      </p:sp>
      <p:sp>
        <p:nvSpPr>
          <p:cNvPr id="4" name="Segnaposto testo 3"/>
          <p:cNvSpPr>
            <a:spLocks noGrp="1"/>
          </p:cNvSpPr>
          <p:nvPr>
            <p:ph type="body" sz="half" idx="3"/>
          </p:nvPr>
        </p:nvSpPr>
        <p:spPr>
          <a:xfrm>
            <a:off x="4645025" y="1809750"/>
            <a:ext cx="4041775"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it-IT"/>
              <a:t>Fare clic per modificare stili del testo dello schema</a:t>
            </a:r>
          </a:p>
        </p:txBody>
      </p:sp>
      <p:sp>
        <p:nvSpPr>
          <p:cNvPr id="5" name="Segnaposto contenuto 4"/>
          <p:cNvSpPr>
            <a:spLocks noGrp="1"/>
          </p:cNvSpPr>
          <p:nvPr>
            <p:ph sz="quarter" idx="2"/>
          </p:nvPr>
        </p:nvSpPr>
        <p:spPr>
          <a:xfrm>
            <a:off x="457200" y="2459037"/>
            <a:ext cx="4040188"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it-IT"/>
              <a:t>Fare clic per modificare stili del testo dello schema</a:t>
            </a:r>
          </a:p>
          <a:p>
            <a:pPr lvl="1" eaLnBrk="1" latinLnBrk="0" hangingPunct="1"/>
            <a:r>
              <a:rPr lang="it-IT"/>
              <a:t>Secondo livello</a:t>
            </a:r>
          </a:p>
          <a:p>
            <a:pPr lvl="2" eaLnBrk="1" latinLnBrk="0" hangingPunct="1"/>
            <a:r>
              <a:rPr lang="it-IT"/>
              <a:t>Terzo livello</a:t>
            </a:r>
          </a:p>
          <a:p>
            <a:pPr lvl="3" eaLnBrk="1" latinLnBrk="0" hangingPunct="1"/>
            <a:r>
              <a:rPr lang="it-IT"/>
              <a:t>Quarto livello</a:t>
            </a:r>
          </a:p>
          <a:p>
            <a:pPr lvl="4" eaLnBrk="1" latinLnBrk="0" hangingPunct="1"/>
            <a:r>
              <a:rPr lang="it-IT"/>
              <a:t>Quinto livello</a:t>
            </a:r>
            <a:endParaRPr kumimoji="0" lang="en-US"/>
          </a:p>
        </p:txBody>
      </p:sp>
      <p:sp>
        <p:nvSpPr>
          <p:cNvPr id="6" name="Segnaposto contenuto 5"/>
          <p:cNvSpPr>
            <a:spLocks noGrp="1"/>
          </p:cNvSpPr>
          <p:nvPr>
            <p:ph sz="quarter" idx="4"/>
          </p:nvPr>
        </p:nvSpPr>
        <p:spPr>
          <a:xfrm>
            <a:off x="4645025" y="2459037"/>
            <a:ext cx="4041775"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it-IT"/>
              <a:t>Fare clic per modificare stili del testo dello schema</a:t>
            </a:r>
          </a:p>
          <a:p>
            <a:pPr lvl="1" eaLnBrk="1" latinLnBrk="0" hangingPunct="1"/>
            <a:r>
              <a:rPr lang="it-IT"/>
              <a:t>Secondo livello</a:t>
            </a:r>
          </a:p>
          <a:p>
            <a:pPr lvl="2" eaLnBrk="1" latinLnBrk="0" hangingPunct="1"/>
            <a:r>
              <a:rPr lang="it-IT"/>
              <a:t>Terzo livello</a:t>
            </a:r>
          </a:p>
          <a:p>
            <a:pPr lvl="3" eaLnBrk="1" latinLnBrk="0" hangingPunct="1"/>
            <a:r>
              <a:rPr lang="it-IT"/>
              <a:t>Quarto livello</a:t>
            </a:r>
          </a:p>
          <a:p>
            <a:pPr lvl="4" eaLnBrk="1" latinLnBrk="0" hangingPunct="1"/>
            <a:r>
              <a:rPr lang="it-IT"/>
              <a:t>Quinto livello</a:t>
            </a:r>
            <a:endParaRPr kumimoji="0" lang="en-US"/>
          </a:p>
        </p:txBody>
      </p:sp>
      <p:sp>
        <p:nvSpPr>
          <p:cNvPr id="7" name="Segnaposto data 6"/>
          <p:cNvSpPr>
            <a:spLocks noGrp="1"/>
          </p:cNvSpPr>
          <p:nvPr>
            <p:ph type="dt" sz="half" idx="10"/>
          </p:nvPr>
        </p:nvSpPr>
        <p:spPr/>
        <p:txBody>
          <a:bodyPr/>
          <a:lstStyle/>
          <a:p>
            <a:fld id="{1B1CE6A6-DAA6-487B-8453-CCF5B9F17E1F}" type="datetimeFigureOut">
              <a:rPr lang="it-IT" smtClean="0"/>
              <a:pPr/>
              <a:t>16/02/2026</a:t>
            </a:fld>
            <a:endParaRPr lang="it-IT" dirty="0"/>
          </a:p>
        </p:txBody>
      </p:sp>
      <p:sp>
        <p:nvSpPr>
          <p:cNvPr id="8" name="Segnaposto piè di pagina 7"/>
          <p:cNvSpPr>
            <a:spLocks noGrp="1"/>
          </p:cNvSpPr>
          <p:nvPr>
            <p:ph type="ftr" sz="quarter" idx="11"/>
          </p:nvPr>
        </p:nvSpPr>
        <p:spPr/>
        <p:txBody>
          <a:bodyPr/>
          <a:lstStyle/>
          <a:p>
            <a:endParaRPr lang="it-IT" dirty="0"/>
          </a:p>
        </p:txBody>
      </p:sp>
      <p:sp>
        <p:nvSpPr>
          <p:cNvPr id="9" name="Segnaposto numero diapositiva 8"/>
          <p:cNvSpPr>
            <a:spLocks noGrp="1"/>
          </p:cNvSpPr>
          <p:nvPr>
            <p:ph type="sldNum" sz="quarter" idx="12"/>
          </p:nvPr>
        </p:nvSpPr>
        <p:spPr/>
        <p:txBody>
          <a:bodyPr/>
          <a:lstStyle/>
          <a:p>
            <a:fld id="{9230E590-313B-4AAA-A6F3-4810B181FF54}" type="slidenum">
              <a:rPr lang="it-IT" smtClean="0"/>
              <a:pPr/>
              <a:t>‹Nº›</a:t>
            </a:fld>
            <a:endParaRPr lang="it-IT" dirty="0"/>
          </a:p>
        </p:txBody>
      </p:sp>
      <p:sp>
        <p:nvSpPr>
          <p:cNvPr id="16" name="Rettangolo 15"/>
          <p:cNvSpPr/>
          <p:nvPr/>
        </p:nvSpPr>
        <p:spPr>
          <a:xfrm>
            <a:off x="87790" y="680477"/>
            <a:ext cx="4572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ttangolo 16"/>
          <p:cNvSpPr/>
          <p:nvPr/>
        </p:nvSpPr>
        <p:spPr>
          <a:xfrm>
            <a:off x="47305"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Rettangolo 17"/>
          <p:cNvSpPr/>
          <p:nvPr/>
        </p:nvSpPr>
        <p:spPr>
          <a:xfrm>
            <a:off x="2825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Rettangolo 18"/>
          <p:cNvSpPr/>
          <p:nvPr/>
        </p:nvSpPr>
        <p:spPr>
          <a:xfrm>
            <a:off x="0"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Rettangolo 19"/>
          <p:cNvSpPr/>
          <p:nvPr/>
        </p:nvSpPr>
        <p:spPr>
          <a:xfrm flipH="1">
            <a:off x="149770"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Rettangolo 20"/>
          <p:cNvSpPr/>
          <p:nvPr/>
        </p:nvSpPr>
        <p:spPr>
          <a:xfrm flipH="1">
            <a:off x="189341"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ttangolo 21"/>
          <p:cNvSpPr/>
          <p:nvPr/>
        </p:nvSpPr>
        <p:spPr>
          <a:xfrm flipH="1">
            <a:off x="22668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Rettangolo 28"/>
          <p:cNvSpPr/>
          <p:nvPr/>
        </p:nvSpPr>
        <p:spPr>
          <a:xfrm flipH="1">
            <a:off x="254934"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ttangolo 29"/>
          <p:cNvSpPr/>
          <p:nvPr/>
        </p:nvSpPr>
        <p:spPr>
          <a:xfrm>
            <a:off x="278710"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914400" y="512064"/>
            <a:ext cx="7772400" cy="914400"/>
          </a:xfrm>
        </p:spPr>
        <p:txBody>
          <a:bodyPr/>
          <a:lstStyle>
            <a:lvl1pPr>
              <a:defRPr sz="4000" cap="none" baseline="0"/>
            </a:lvl1pPr>
            <a:extLst/>
          </a:lstStyle>
          <a:p>
            <a:r>
              <a:rPr kumimoji="0" lang="it-IT"/>
              <a:t>Fare clic per modificare lo stile del titolo</a:t>
            </a:r>
            <a:endParaRPr kumimoji="0" lang="en-US"/>
          </a:p>
        </p:txBody>
      </p:sp>
      <p:sp>
        <p:nvSpPr>
          <p:cNvPr id="3" name="Segnaposto data 2"/>
          <p:cNvSpPr>
            <a:spLocks noGrp="1"/>
          </p:cNvSpPr>
          <p:nvPr>
            <p:ph type="dt" sz="half" idx="10"/>
          </p:nvPr>
        </p:nvSpPr>
        <p:spPr/>
        <p:txBody>
          <a:bodyPr/>
          <a:lstStyle/>
          <a:p>
            <a:fld id="{1B1CE6A6-DAA6-487B-8453-CCF5B9F17E1F}" type="datetimeFigureOut">
              <a:rPr lang="it-IT" smtClean="0"/>
              <a:pPr/>
              <a:t>16/02/2026</a:t>
            </a:fld>
            <a:endParaRPr lang="it-IT" dirty="0"/>
          </a:p>
        </p:txBody>
      </p:sp>
      <p:sp>
        <p:nvSpPr>
          <p:cNvPr id="4" name="Segnaposto piè di pagina 3"/>
          <p:cNvSpPr>
            <a:spLocks noGrp="1"/>
          </p:cNvSpPr>
          <p:nvPr>
            <p:ph type="ftr" sz="quarter" idx="11"/>
          </p:nvPr>
        </p:nvSpPr>
        <p:spPr/>
        <p:txBody>
          <a:bodyPr/>
          <a:lstStyle/>
          <a:p>
            <a:endParaRPr lang="it-IT" dirty="0"/>
          </a:p>
        </p:txBody>
      </p:sp>
      <p:sp>
        <p:nvSpPr>
          <p:cNvPr id="5" name="Segnaposto numero diapositiva 4"/>
          <p:cNvSpPr>
            <a:spLocks noGrp="1"/>
          </p:cNvSpPr>
          <p:nvPr>
            <p:ph type="sldNum" sz="quarter" idx="12"/>
          </p:nvPr>
        </p:nvSpPr>
        <p:spPr/>
        <p:txBody>
          <a:bodyPr/>
          <a:lstStyle/>
          <a:p>
            <a:fld id="{9230E590-313B-4AAA-A6F3-4810B181FF54}" type="slidenum">
              <a:rPr lang="it-IT" smtClean="0"/>
              <a:pPr/>
              <a:t>‹Nº›</a:t>
            </a:fld>
            <a:endParaRPr lang="it-IT"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1B1CE6A6-DAA6-487B-8453-CCF5B9F17E1F}" type="datetimeFigureOut">
              <a:rPr lang="it-IT" smtClean="0"/>
              <a:pPr/>
              <a:t>16/02/2026</a:t>
            </a:fld>
            <a:endParaRPr lang="it-IT" dirty="0"/>
          </a:p>
        </p:txBody>
      </p:sp>
      <p:sp>
        <p:nvSpPr>
          <p:cNvPr id="3" name="Segnaposto piè di pagina 2"/>
          <p:cNvSpPr>
            <a:spLocks noGrp="1"/>
          </p:cNvSpPr>
          <p:nvPr>
            <p:ph type="ftr" sz="quarter" idx="11"/>
          </p:nvPr>
        </p:nvSpPr>
        <p:spPr/>
        <p:txBody>
          <a:bodyPr/>
          <a:lstStyle/>
          <a:p>
            <a:endParaRPr lang="it-IT" dirty="0"/>
          </a:p>
        </p:txBody>
      </p:sp>
      <p:sp>
        <p:nvSpPr>
          <p:cNvPr id="4" name="Segnaposto numero diapositiva 3"/>
          <p:cNvSpPr>
            <a:spLocks noGrp="1"/>
          </p:cNvSpPr>
          <p:nvPr>
            <p:ph type="sldNum" sz="quarter" idx="12"/>
          </p:nvPr>
        </p:nvSpPr>
        <p:spPr/>
        <p:txBody>
          <a:bodyPr/>
          <a:lstStyle/>
          <a:p>
            <a:fld id="{9230E590-313B-4AAA-A6F3-4810B181FF54}" type="slidenum">
              <a:rPr lang="it-IT" smtClean="0"/>
              <a:pPr/>
              <a:t>‹Nº›</a:t>
            </a:fld>
            <a:endParaRPr lang="it-IT"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685800" y="273050"/>
            <a:ext cx="8229600" cy="1162050"/>
          </a:xfrm>
        </p:spPr>
        <p:txBody>
          <a:bodyPr anchor="ctr"/>
          <a:lstStyle>
            <a:lvl1pPr algn="l">
              <a:buNone/>
              <a:defRPr sz="3600" b="0"/>
            </a:lvl1pPr>
            <a:extLst/>
          </a:lstStyle>
          <a:p>
            <a:r>
              <a:rPr kumimoji="0" lang="it-IT"/>
              <a:t>Fare clic per modificare lo stile del titolo</a:t>
            </a:r>
            <a:endParaRPr kumimoji="0" lang="en-US"/>
          </a:p>
        </p:txBody>
      </p:sp>
      <p:sp>
        <p:nvSpPr>
          <p:cNvPr id="3" name="Segnaposto testo 2"/>
          <p:cNvSpPr>
            <a:spLocks noGrp="1"/>
          </p:cNvSpPr>
          <p:nvPr>
            <p:ph type="body" idx="2"/>
          </p:nvPr>
        </p:nvSpPr>
        <p:spPr>
          <a:xfrm>
            <a:off x="685800" y="1435100"/>
            <a:ext cx="25146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eaLnBrk="1" latinLnBrk="0" hangingPunct="1"/>
            <a:r>
              <a:rPr kumimoji="0" lang="it-IT"/>
              <a:t>Fare clic per modificare stili del testo dello schema</a:t>
            </a:r>
          </a:p>
        </p:txBody>
      </p:sp>
      <p:sp>
        <p:nvSpPr>
          <p:cNvPr id="4" name="Segnaposto contenuto 3"/>
          <p:cNvSpPr>
            <a:spLocks noGrp="1"/>
          </p:cNvSpPr>
          <p:nvPr>
            <p:ph sz="half" idx="1"/>
          </p:nvPr>
        </p:nvSpPr>
        <p:spPr>
          <a:xfrm>
            <a:off x="3429000" y="1435100"/>
            <a:ext cx="5486400"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it-IT"/>
              <a:t>Fare clic per modificare stili del testo dello schema</a:t>
            </a:r>
          </a:p>
          <a:p>
            <a:pPr lvl="1" eaLnBrk="1" latinLnBrk="0" hangingPunct="1"/>
            <a:r>
              <a:rPr lang="it-IT"/>
              <a:t>Secondo livello</a:t>
            </a:r>
          </a:p>
          <a:p>
            <a:pPr lvl="2" eaLnBrk="1" latinLnBrk="0" hangingPunct="1"/>
            <a:r>
              <a:rPr lang="it-IT"/>
              <a:t>Terzo livello</a:t>
            </a:r>
          </a:p>
          <a:p>
            <a:pPr lvl="3" eaLnBrk="1" latinLnBrk="0" hangingPunct="1"/>
            <a:r>
              <a:rPr lang="it-IT"/>
              <a:t>Quarto livello</a:t>
            </a:r>
          </a:p>
          <a:p>
            <a:pPr lvl="4" eaLnBrk="1" latinLnBrk="0" hangingPunct="1"/>
            <a:r>
              <a:rPr lang="it-IT"/>
              <a:t>Quinto livello</a:t>
            </a:r>
            <a:endParaRPr kumimoji="0" lang="en-US"/>
          </a:p>
        </p:txBody>
      </p:sp>
      <p:sp>
        <p:nvSpPr>
          <p:cNvPr id="5" name="Segnaposto data 4"/>
          <p:cNvSpPr>
            <a:spLocks noGrp="1"/>
          </p:cNvSpPr>
          <p:nvPr>
            <p:ph type="dt" sz="half" idx="10"/>
          </p:nvPr>
        </p:nvSpPr>
        <p:spPr/>
        <p:txBody>
          <a:bodyPr/>
          <a:lstStyle/>
          <a:p>
            <a:fld id="{1B1CE6A6-DAA6-487B-8453-CCF5B9F17E1F}" type="datetimeFigureOut">
              <a:rPr lang="it-IT" smtClean="0"/>
              <a:pPr/>
              <a:t>16/02/2026</a:t>
            </a:fld>
            <a:endParaRPr lang="it-IT" dirty="0"/>
          </a:p>
        </p:txBody>
      </p:sp>
      <p:sp>
        <p:nvSpPr>
          <p:cNvPr id="6" name="Segnaposto piè di pagina 5"/>
          <p:cNvSpPr>
            <a:spLocks noGrp="1"/>
          </p:cNvSpPr>
          <p:nvPr>
            <p:ph type="ftr" sz="quarter" idx="11"/>
          </p:nvPr>
        </p:nvSpPr>
        <p:spPr/>
        <p:txBody>
          <a:bodyPr/>
          <a:lstStyle/>
          <a:p>
            <a:endParaRPr lang="it-IT" dirty="0"/>
          </a:p>
        </p:txBody>
      </p:sp>
      <p:sp>
        <p:nvSpPr>
          <p:cNvPr id="7" name="Segnaposto numero diapositiva 6"/>
          <p:cNvSpPr>
            <a:spLocks noGrp="1"/>
          </p:cNvSpPr>
          <p:nvPr>
            <p:ph type="sldNum" sz="quarter" idx="12"/>
          </p:nvPr>
        </p:nvSpPr>
        <p:spPr/>
        <p:txBody>
          <a:bodyPr/>
          <a:lstStyle/>
          <a:p>
            <a:fld id="{9230E590-313B-4AAA-A6F3-4810B181FF54}" type="slidenum">
              <a:rPr lang="it-IT" smtClean="0"/>
              <a:pPr/>
              <a:t>‹Nº›</a:t>
            </a:fld>
            <a:endParaRPr lang="it-IT"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8" name="Rettangolo 7"/>
          <p:cNvSpPr/>
          <p:nvPr/>
        </p:nvSpPr>
        <p:spPr>
          <a:xfrm>
            <a:off x="368032" y="0"/>
            <a:ext cx="877824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cxnSp>
        <p:nvCxnSpPr>
          <p:cNvPr id="9" name="Connettore 1 8"/>
          <p:cNvCxnSpPr/>
          <p:nvPr/>
        </p:nvCxnSpPr>
        <p:spPr>
          <a:xfrm flipV="1">
            <a:off x="363195" y="1885028"/>
            <a:ext cx="8782622"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uppo 9"/>
          <p:cNvGrpSpPr/>
          <p:nvPr/>
        </p:nvGrpSpPr>
        <p:grpSpPr>
          <a:xfrm rot="5400000">
            <a:off x="8514581" y="1219200"/>
            <a:ext cx="132763" cy="128466"/>
            <a:chOff x="6668087" y="1297746"/>
            <a:chExt cx="161840" cy="156602"/>
          </a:xfrm>
        </p:grpSpPr>
        <p:cxnSp>
          <p:nvCxnSpPr>
            <p:cNvPr id="15" name="Connettore 1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Connettore 1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Connettore 1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olo 1"/>
          <p:cNvSpPr>
            <a:spLocks noGrp="1"/>
          </p:cNvSpPr>
          <p:nvPr>
            <p:ph type="title"/>
          </p:nvPr>
        </p:nvSpPr>
        <p:spPr bwMode="grayWhite">
          <a:xfrm>
            <a:off x="914400" y="441251"/>
            <a:ext cx="6858000" cy="701749"/>
          </a:xfrm>
        </p:spPr>
        <p:txBody>
          <a:bodyPr anchor="b"/>
          <a:lstStyle>
            <a:lvl1pPr algn="l">
              <a:buNone/>
              <a:defRPr sz="2100" b="0"/>
            </a:lvl1pPr>
            <a:extLst/>
          </a:lstStyle>
          <a:p>
            <a:r>
              <a:rPr kumimoji="0" lang="it-IT"/>
              <a:t>Fare clic per modificare lo stile del titolo</a:t>
            </a:r>
            <a:endParaRPr kumimoji="0" lang="en-US"/>
          </a:p>
        </p:txBody>
      </p:sp>
      <p:sp>
        <p:nvSpPr>
          <p:cNvPr id="3" name="Segnaposto immagine 2"/>
          <p:cNvSpPr>
            <a:spLocks noGrp="1"/>
          </p:cNvSpPr>
          <p:nvPr>
            <p:ph type="pic" idx="1"/>
          </p:nvPr>
        </p:nvSpPr>
        <p:spPr>
          <a:xfrm>
            <a:off x="368032" y="1893781"/>
            <a:ext cx="8778240" cy="4960144"/>
          </a:xfrm>
          <a:solidFill>
            <a:schemeClr val="bg2"/>
          </a:solidFill>
        </p:spPr>
        <p:txBody>
          <a:bodyPr/>
          <a:lstStyle>
            <a:lvl1pPr marL="0" indent="0">
              <a:buNone/>
              <a:defRPr sz="3200"/>
            </a:lvl1pPr>
            <a:extLst/>
          </a:lstStyle>
          <a:p>
            <a:r>
              <a:rPr kumimoji="0" lang="it-IT" dirty="0"/>
              <a:t>Fare clic sull'icona per inserire un'immagine</a:t>
            </a:r>
            <a:endParaRPr kumimoji="0" lang="en-US" dirty="0"/>
          </a:p>
        </p:txBody>
      </p:sp>
      <p:sp>
        <p:nvSpPr>
          <p:cNvPr id="4" name="Segnaposto testo 3"/>
          <p:cNvSpPr>
            <a:spLocks noGrp="1"/>
          </p:cNvSpPr>
          <p:nvPr>
            <p:ph type="body" sz="half" idx="2"/>
          </p:nvPr>
        </p:nvSpPr>
        <p:spPr bwMode="grayWhite">
          <a:xfrm>
            <a:off x="914400" y="1150144"/>
            <a:ext cx="6858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eaLnBrk="1" latinLnBrk="0" hangingPunct="1"/>
            <a:r>
              <a:rPr kumimoji="0" lang="it-IT"/>
              <a:t>Fare clic per modificare stili del testo dello schema</a:t>
            </a:r>
          </a:p>
        </p:txBody>
      </p:sp>
      <p:grpSp>
        <p:nvGrpSpPr>
          <p:cNvPr id="14" name="Gruppo 13"/>
          <p:cNvGrpSpPr/>
          <p:nvPr/>
        </p:nvGrpSpPr>
        <p:grpSpPr>
          <a:xfrm rot="5400000">
            <a:off x="8666981" y="1371600"/>
            <a:ext cx="132763" cy="128466"/>
            <a:chOff x="6668087" y="1297746"/>
            <a:chExt cx="161840" cy="156602"/>
          </a:xfrm>
        </p:grpSpPr>
        <p:cxnSp>
          <p:nvCxnSpPr>
            <p:cNvPr id="11" name="Connettore 1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Connettore 1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Connettore 1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uppo 17"/>
          <p:cNvGrpSpPr/>
          <p:nvPr/>
        </p:nvGrpSpPr>
        <p:grpSpPr>
          <a:xfrm rot="5400000">
            <a:off x="8320088" y="1474763"/>
            <a:ext cx="132763" cy="128466"/>
            <a:chOff x="6668087" y="1297746"/>
            <a:chExt cx="161840" cy="156602"/>
          </a:xfrm>
        </p:grpSpPr>
        <p:cxnSp>
          <p:nvCxnSpPr>
            <p:cNvPr id="19" name="Connettore 1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Connettore 1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Connettore 1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Segnaposto data 4"/>
          <p:cNvSpPr>
            <a:spLocks noGrp="1"/>
          </p:cNvSpPr>
          <p:nvPr>
            <p:ph type="dt" sz="half" idx="10"/>
          </p:nvPr>
        </p:nvSpPr>
        <p:spPr>
          <a:xfrm>
            <a:off x="6477000" y="55499"/>
            <a:ext cx="2133600" cy="365125"/>
          </a:xfrm>
        </p:spPr>
        <p:txBody>
          <a:bodyPr/>
          <a:lstStyle/>
          <a:p>
            <a:fld id="{1B1CE6A6-DAA6-487B-8453-CCF5B9F17E1F}" type="datetimeFigureOut">
              <a:rPr lang="it-IT" smtClean="0"/>
              <a:pPr/>
              <a:t>16/02/2026</a:t>
            </a:fld>
            <a:endParaRPr lang="it-IT" dirty="0"/>
          </a:p>
        </p:txBody>
      </p:sp>
      <p:sp>
        <p:nvSpPr>
          <p:cNvPr id="6" name="Segnaposto piè di pagina 5"/>
          <p:cNvSpPr>
            <a:spLocks noGrp="1"/>
          </p:cNvSpPr>
          <p:nvPr>
            <p:ph type="ftr" sz="quarter" idx="11"/>
          </p:nvPr>
        </p:nvSpPr>
        <p:spPr>
          <a:xfrm>
            <a:off x="914400" y="55499"/>
            <a:ext cx="5562600" cy="365125"/>
          </a:xfrm>
        </p:spPr>
        <p:txBody>
          <a:bodyPr/>
          <a:lstStyle/>
          <a:p>
            <a:endParaRPr lang="it-IT" dirty="0"/>
          </a:p>
        </p:txBody>
      </p:sp>
      <p:sp>
        <p:nvSpPr>
          <p:cNvPr id="7" name="Segnaposto numero diapositiva 6"/>
          <p:cNvSpPr>
            <a:spLocks noGrp="1"/>
          </p:cNvSpPr>
          <p:nvPr>
            <p:ph type="sldNum" sz="quarter" idx="12"/>
          </p:nvPr>
        </p:nvSpPr>
        <p:spPr>
          <a:xfrm>
            <a:off x="8610600" y="55499"/>
            <a:ext cx="457200" cy="365125"/>
          </a:xfrm>
        </p:spPr>
        <p:txBody>
          <a:bodyPr/>
          <a:lstStyle/>
          <a:p>
            <a:fld id="{9230E590-313B-4AAA-A6F3-4810B181FF54}" type="slidenum">
              <a:rPr lang="it-IT" smtClean="0"/>
              <a:pPr/>
              <a:t>‹Nº›</a:t>
            </a:fld>
            <a:endParaRPr lang="it-IT"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kumimoji="0" lang="it-IT"/>
              <a:t>Fare clic per modificare lo stile del titolo</a:t>
            </a:r>
            <a:endParaRPr kumimoji="0" lang="en-US"/>
          </a:p>
        </p:txBody>
      </p:sp>
      <p:sp>
        <p:nvSpPr>
          <p:cNvPr id="3" name="Segnaposto testo verticale 2"/>
          <p:cNvSpPr>
            <a:spLocks noGrp="1"/>
          </p:cNvSpPr>
          <p:nvPr>
            <p:ph type="body" orient="vert" idx="1"/>
          </p:nvPr>
        </p:nvSpPr>
        <p:spPr/>
        <p:txBody>
          <a:bodyPr vert="eaVert"/>
          <a:lstStyle/>
          <a:p>
            <a:pPr lvl="0" eaLnBrk="1" latinLnBrk="0" hangingPunct="1"/>
            <a:r>
              <a:rPr lang="it-IT"/>
              <a:t>Fare clic per modificare stili del testo dello schema</a:t>
            </a:r>
          </a:p>
          <a:p>
            <a:pPr lvl="1" eaLnBrk="1" latinLnBrk="0" hangingPunct="1"/>
            <a:r>
              <a:rPr lang="it-IT"/>
              <a:t>Secondo livello</a:t>
            </a:r>
          </a:p>
          <a:p>
            <a:pPr lvl="2" eaLnBrk="1" latinLnBrk="0" hangingPunct="1"/>
            <a:r>
              <a:rPr lang="it-IT"/>
              <a:t>Terzo livello</a:t>
            </a:r>
          </a:p>
          <a:p>
            <a:pPr lvl="3" eaLnBrk="1" latinLnBrk="0" hangingPunct="1"/>
            <a:r>
              <a:rPr lang="it-IT"/>
              <a:t>Quarto livello</a:t>
            </a:r>
          </a:p>
          <a:p>
            <a:pPr lvl="4" eaLnBrk="1" latinLnBrk="0" hangingPunct="1"/>
            <a:r>
              <a:rPr lang="it-IT"/>
              <a:t>Quinto livello</a:t>
            </a:r>
            <a:endParaRPr kumimoji="0" lang="en-US"/>
          </a:p>
        </p:txBody>
      </p:sp>
      <p:sp>
        <p:nvSpPr>
          <p:cNvPr id="4" name="Segnaposto data 3"/>
          <p:cNvSpPr>
            <a:spLocks noGrp="1"/>
          </p:cNvSpPr>
          <p:nvPr>
            <p:ph type="dt" sz="half" idx="10"/>
          </p:nvPr>
        </p:nvSpPr>
        <p:spPr/>
        <p:txBody>
          <a:bodyPr/>
          <a:lstStyle/>
          <a:p>
            <a:fld id="{1B1CE6A6-DAA6-487B-8453-CCF5B9F17E1F}" type="datetimeFigureOut">
              <a:rPr lang="it-IT" smtClean="0"/>
              <a:pPr/>
              <a:t>16/02/2026</a:t>
            </a:fld>
            <a:endParaRPr lang="it-IT" dirty="0"/>
          </a:p>
        </p:txBody>
      </p:sp>
      <p:sp>
        <p:nvSpPr>
          <p:cNvPr id="5" name="Segnaposto piè di pagina 4"/>
          <p:cNvSpPr>
            <a:spLocks noGrp="1"/>
          </p:cNvSpPr>
          <p:nvPr>
            <p:ph type="ftr" sz="quarter" idx="11"/>
          </p:nvPr>
        </p:nvSpPr>
        <p:spPr/>
        <p:txBody>
          <a:bodyPr/>
          <a:lstStyle/>
          <a:p>
            <a:endParaRPr lang="it-IT" dirty="0"/>
          </a:p>
        </p:txBody>
      </p:sp>
      <p:sp>
        <p:nvSpPr>
          <p:cNvPr id="6" name="Segnaposto numero diapositiva 5"/>
          <p:cNvSpPr>
            <a:spLocks noGrp="1"/>
          </p:cNvSpPr>
          <p:nvPr>
            <p:ph type="sldNum" sz="quarter" idx="12"/>
          </p:nvPr>
        </p:nvSpPr>
        <p:spPr/>
        <p:txBody>
          <a:bodyPr/>
          <a:lstStyle/>
          <a:p>
            <a:fld id="{9230E590-313B-4AAA-A6F3-4810B181FF54}" type="slidenum">
              <a:rPr lang="it-IT" smtClean="0"/>
              <a:pPr/>
              <a:t>‹Nº›</a:t>
            </a:fld>
            <a:endParaRPr lang="it-IT"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9"/>
            <a:ext cx="1981200" cy="5851525"/>
          </a:xfrm>
        </p:spPr>
        <p:txBody>
          <a:bodyPr vert="eaVert" anchor="ctr"/>
          <a:lstStyle/>
          <a:p>
            <a:r>
              <a:rPr kumimoji="0" lang="it-IT"/>
              <a:t>Fare clic per modificare lo stile del titolo</a:t>
            </a:r>
            <a:endParaRPr kumimoji="0" lang="en-US"/>
          </a:p>
        </p:txBody>
      </p:sp>
      <p:sp>
        <p:nvSpPr>
          <p:cNvPr id="3" name="Segnaposto testo verticale 2"/>
          <p:cNvSpPr>
            <a:spLocks noGrp="1"/>
          </p:cNvSpPr>
          <p:nvPr>
            <p:ph type="body" orient="vert" idx="1"/>
          </p:nvPr>
        </p:nvSpPr>
        <p:spPr>
          <a:xfrm>
            <a:off x="609600" y="274639"/>
            <a:ext cx="5867400" cy="5851525"/>
          </a:xfrm>
        </p:spPr>
        <p:txBody>
          <a:bodyPr vert="eaVert"/>
          <a:lstStyle/>
          <a:p>
            <a:pPr lvl="0" eaLnBrk="1" latinLnBrk="0" hangingPunct="1"/>
            <a:r>
              <a:rPr lang="it-IT"/>
              <a:t>Fare clic per modificare stili del testo dello schema</a:t>
            </a:r>
          </a:p>
          <a:p>
            <a:pPr lvl="1" eaLnBrk="1" latinLnBrk="0" hangingPunct="1"/>
            <a:r>
              <a:rPr lang="it-IT"/>
              <a:t>Secondo livello</a:t>
            </a:r>
          </a:p>
          <a:p>
            <a:pPr lvl="2" eaLnBrk="1" latinLnBrk="0" hangingPunct="1"/>
            <a:r>
              <a:rPr lang="it-IT"/>
              <a:t>Terzo livello</a:t>
            </a:r>
          </a:p>
          <a:p>
            <a:pPr lvl="3" eaLnBrk="1" latinLnBrk="0" hangingPunct="1"/>
            <a:r>
              <a:rPr lang="it-IT"/>
              <a:t>Quarto livello</a:t>
            </a:r>
          </a:p>
          <a:p>
            <a:pPr lvl="4" eaLnBrk="1" latinLnBrk="0" hangingPunct="1"/>
            <a:r>
              <a:rPr lang="it-IT"/>
              <a:t>Quinto livello</a:t>
            </a:r>
            <a:endParaRPr kumimoji="0" lang="en-US"/>
          </a:p>
        </p:txBody>
      </p:sp>
      <p:sp>
        <p:nvSpPr>
          <p:cNvPr id="4" name="Segnaposto data 3"/>
          <p:cNvSpPr>
            <a:spLocks noGrp="1"/>
          </p:cNvSpPr>
          <p:nvPr>
            <p:ph type="dt" sz="half" idx="10"/>
          </p:nvPr>
        </p:nvSpPr>
        <p:spPr/>
        <p:txBody>
          <a:bodyPr/>
          <a:lstStyle/>
          <a:p>
            <a:fld id="{1B1CE6A6-DAA6-487B-8453-CCF5B9F17E1F}" type="datetimeFigureOut">
              <a:rPr lang="it-IT" smtClean="0"/>
              <a:pPr/>
              <a:t>16/02/2026</a:t>
            </a:fld>
            <a:endParaRPr lang="it-IT" dirty="0"/>
          </a:p>
        </p:txBody>
      </p:sp>
      <p:sp>
        <p:nvSpPr>
          <p:cNvPr id="5" name="Segnaposto piè di pagina 4"/>
          <p:cNvSpPr>
            <a:spLocks noGrp="1"/>
          </p:cNvSpPr>
          <p:nvPr>
            <p:ph type="ftr" sz="quarter" idx="11"/>
          </p:nvPr>
        </p:nvSpPr>
        <p:spPr/>
        <p:txBody>
          <a:bodyPr/>
          <a:lstStyle/>
          <a:p>
            <a:endParaRPr lang="it-IT" dirty="0"/>
          </a:p>
        </p:txBody>
      </p:sp>
      <p:sp>
        <p:nvSpPr>
          <p:cNvPr id="6" name="Segnaposto numero diapositiva 5"/>
          <p:cNvSpPr>
            <a:spLocks noGrp="1"/>
          </p:cNvSpPr>
          <p:nvPr>
            <p:ph type="sldNum" sz="quarter" idx="12"/>
          </p:nvPr>
        </p:nvSpPr>
        <p:spPr/>
        <p:txBody>
          <a:bodyPr/>
          <a:lstStyle/>
          <a:p>
            <a:fld id="{9230E590-313B-4AAA-A6F3-4810B181FF54}" type="slidenum">
              <a:rPr lang="it-IT" smtClean="0"/>
              <a:pPr/>
              <a:t>‹Nº›</a:t>
            </a:fld>
            <a:endParaRPr lang="it-IT"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ttangolo 6"/>
          <p:cNvSpPr/>
          <p:nvPr/>
        </p:nvSpPr>
        <p:spPr>
          <a:xfrm>
            <a:off x="0" y="-1"/>
            <a:ext cx="36576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ttangolo 7"/>
          <p:cNvSpPr/>
          <p:nvPr/>
        </p:nvSpPr>
        <p:spPr>
          <a:xfrm>
            <a:off x="255291" y="5047394"/>
            <a:ext cx="73152"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ttangolo 8"/>
          <p:cNvSpPr/>
          <p:nvPr/>
        </p:nvSpPr>
        <p:spPr>
          <a:xfrm>
            <a:off x="255291" y="4796819"/>
            <a:ext cx="73152"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ttangolo 9"/>
          <p:cNvSpPr/>
          <p:nvPr/>
        </p:nvSpPr>
        <p:spPr>
          <a:xfrm>
            <a:off x="255291" y="4637685"/>
            <a:ext cx="73152"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ttangolo 10"/>
          <p:cNvSpPr/>
          <p:nvPr/>
        </p:nvSpPr>
        <p:spPr>
          <a:xfrm>
            <a:off x="255291" y="4542559"/>
            <a:ext cx="73152"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ttangolo 11"/>
          <p:cNvSpPr/>
          <p:nvPr/>
        </p:nvSpPr>
        <p:spPr>
          <a:xfrm>
            <a:off x="309558" y="680477"/>
            <a:ext cx="4572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ttangolo 14"/>
          <p:cNvSpPr/>
          <p:nvPr/>
        </p:nvSpPr>
        <p:spPr>
          <a:xfrm>
            <a:off x="269073" y="680477"/>
            <a:ext cx="2743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ttangolo 15"/>
          <p:cNvSpPr/>
          <p:nvPr/>
        </p:nvSpPr>
        <p:spPr>
          <a:xfrm>
            <a:off x="250020"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ttangolo 16"/>
          <p:cNvSpPr/>
          <p:nvPr/>
        </p:nvSpPr>
        <p:spPr>
          <a:xfrm>
            <a:off x="221768"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Segnaposto titolo 21"/>
          <p:cNvSpPr>
            <a:spLocks noGrp="1"/>
          </p:cNvSpPr>
          <p:nvPr>
            <p:ph type="title"/>
          </p:nvPr>
        </p:nvSpPr>
        <p:spPr>
          <a:xfrm>
            <a:off x="914400" y="512064"/>
            <a:ext cx="7772400" cy="914400"/>
          </a:xfrm>
          <a:prstGeom prst="rect">
            <a:avLst/>
          </a:prstGeom>
        </p:spPr>
        <p:txBody>
          <a:bodyPr vert="horz" anchor="t">
            <a:noAutofit/>
          </a:bodyPr>
          <a:lstStyle/>
          <a:p>
            <a:r>
              <a:rPr kumimoji="0" lang="it-IT"/>
              <a:t>Fare clic per modificare lo stile del titolo</a:t>
            </a:r>
            <a:endParaRPr kumimoji="0" lang="en-US"/>
          </a:p>
        </p:txBody>
      </p:sp>
      <p:sp>
        <p:nvSpPr>
          <p:cNvPr id="13" name="Segnaposto testo 12"/>
          <p:cNvSpPr>
            <a:spLocks noGrp="1"/>
          </p:cNvSpPr>
          <p:nvPr>
            <p:ph type="body" idx="1"/>
          </p:nvPr>
        </p:nvSpPr>
        <p:spPr>
          <a:xfrm>
            <a:off x="914400" y="1783560"/>
            <a:ext cx="7772400" cy="4572000"/>
          </a:xfrm>
          <a:prstGeom prst="rect">
            <a:avLst/>
          </a:prstGeom>
        </p:spPr>
        <p:txBody>
          <a:bodyPr vert="horz">
            <a:normAutofit/>
          </a:bodyPr>
          <a:lstStyle/>
          <a:p>
            <a:pPr lvl="0" eaLnBrk="1" latinLnBrk="0" hangingPunct="1"/>
            <a:r>
              <a:rPr kumimoji="0" lang="it-IT"/>
              <a:t>Fare clic per modificare stili del testo dello schema</a:t>
            </a:r>
          </a:p>
          <a:p>
            <a:pPr lvl="1" eaLnBrk="1" latinLnBrk="0" hangingPunct="1"/>
            <a:r>
              <a:rPr kumimoji="0" lang="it-IT"/>
              <a:t>Secondo livello</a:t>
            </a:r>
          </a:p>
          <a:p>
            <a:pPr lvl="2" eaLnBrk="1" latinLnBrk="0" hangingPunct="1"/>
            <a:r>
              <a:rPr kumimoji="0" lang="it-IT"/>
              <a:t>Terzo livello</a:t>
            </a:r>
          </a:p>
          <a:p>
            <a:pPr lvl="3" eaLnBrk="1" latinLnBrk="0" hangingPunct="1"/>
            <a:r>
              <a:rPr kumimoji="0" lang="it-IT"/>
              <a:t>Quarto livello</a:t>
            </a:r>
          </a:p>
          <a:p>
            <a:pPr lvl="4" eaLnBrk="1" latinLnBrk="0" hangingPunct="1"/>
            <a:r>
              <a:rPr kumimoji="0" lang="it-IT"/>
              <a:t>Quinto livello</a:t>
            </a:r>
            <a:endParaRPr kumimoji="0" lang="en-US"/>
          </a:p>
        </p:txBody>
      </p:sp>
      <p:sp>
        <p:nvSpPr>
          <p:cNvPr id="14" name="Segnaposto data 13"/>
          <p:cNvSpPr>
            <a:spLocks noGrp="1"/>
          </p:cNvSpPr>
          <p:nvPr>
            <p:ph type="dt" sz="half" idx="2"/>
          </p:nvPr>
        </p:nvSpPr>
        <p:spPr>
          <a:xfrm>
            <a:off x="6477000" y="6416675"/>
            <a:ext cx="2133600" cy="365125"/>
          </a:xfrm>
          <a:prstGeom prst="rect">
            <a:avLst/>
          </a:prstGeom>
        </p:spPr>
        <p:txBody>
          <a:bodyPr vert="horz" anchor="b"/>
          <a:lstStyle>
            <a:lvl1pPr algn="l" eaLnBrk="1" latinLnBrk="0" hangingPunct="1">
              <a:defRPr kumimoji="0" sz="1100">
                <a:solidFill>
                  <a:schemeClr val="tx2"/>
                </a:solidFill>
              </a:defRPr>
            </a:lvl1pPr>
            <a:extLst/>
          </a:lstStyle>
          <a:p>
            <a:fld id="{1B1CE6A6-DAA6-487B-8453-CCF5B9F17E1F}" type="datetimeFigureOut">
              <a:rPr lang="it-IT" smtClean="0"/>
              <a:pPr/>
              <a:t>16/02/2026</a:t>
            </a:fld>
            <a:endParaRPr lang="it-IT" dirty="0"/>
          </a:p>
        </p:txBody>
      </p:sp>
      <p:sp>
        <p:nvSpPr>
          <p:cNvPr id="3" name="Segnaposto piè di pagina 2"/>
          <p:cNvSpPr>
            <a:spLocks noGrp="1"/>
          </p:cNvSpPr>
          <p:nvPr>
            <p:ph type="ftr" sz="quarter" idx="3"/>
          </p:nvPr>
        </p:nvSpPr>
        <p:spPr>
          <a:xfrm>
            <a:off x="914400" y="6416675"/>
            <a:ext cx="5562600" cy="365125"/>
          </a:xfrm>
          <a:prstGeom prst="rect">
            <a:avLst/>
          </a:prstGeom>
        </p:spPr>
        <p:txBody>
          <a:bodyPr vert="horz" anchor="b"/>
          <a:lstStyle>
            <a:lvl1pPr algn="r" eaLnBrk="1" latinLnBrk="0" hangingPunct="1">
              <a:defRPr kumimoji="0" sz="1100">
                <a:solidFill>
                  <a:schemeClr val="tx2"/>
                </a:solidFill>
              </a:defRPr>
            </a:lvl1pPr>
            <a:extLst/>
          </a:lstStyle>
          <a:p>
            <a:endParaRPr lang="it-IT" dirty="0"/>
          </a:p>
        </p:txBody>
      </p:sp>
      <p:sp>
        <p:nvSpPr>
          <p:cNvPr id="23" name="Segnaposto numero diapositiva 22"/>
          <p:cNvSpPr>
            <a:spLocks noGrp="1"/>
          </p:cNvSpPr>
          <p:nvPr>
            <p:ph type="sldNum" sz="quarter" idx="4"/>
          </p:nvPr>
        </p:nvSpPr>
        <p:spPr>
          <a:xfrm>
            <a:off x="8610600" y="6416675"/>
            <a:ext cx="457200" cy="365125"/>
          </a:xfrm>
          <a:prstGeom prst="rect">
            <a:avLst/>
          </a:prstGeom>
        </p:spPr>
        <p:txBody>
          <a:bodyPr vert="horz" anchor="b"/>
          <a:lstStyle>
            <a:lvl1pPr algn="l" eaLnBrk="1" latinLnBrk="0" hangingPunct="1">
              <a:defRPr kumimoji="0" sz="1200">
                <a:solidFill>
                  <a:schemeClr val="tx2"/>
                </a:solidFill>
              </a:defRPr>
            </a:lvl1pPr>
            <a:extLst/>
          </a:lstStyle>
          <a:p>
            <a:fld id="{9230E590-313B-4AAA-A6F3-4810B181FF54}" type="slidenum">
              <a:rPr lang="it-IT" smtClean="0"/>
              <a:pPr/>
              <a:t>‹Nº›</a:t>
            </a:fld>
            <a:endParaRPr lang="it-IT" dirty="0"/>
          </a:p>
        </p:txBody>
      </p:sp>
    </p:spTree>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extLst/>
    </p:titleStyle>
    <p:bodyStyle>
      <a:lvl1pPr marL="411480" indent="-342900" algn="l" rtl="0" eaLnBrk="1" latinLnBrk="0" hangingPunct="1">
        <a:spcBef>
          <a:spcPts val="700"/>
        </a:spcBef>
        <a:buClr>
          <a:schemeClr val="tx2"/>
        </a:buClr>
        <a:buSzPct val="95000"/>
        <a:buFont typeface="Wingdings"/>
        <a:buChar char=""/>
        <a:defRPr kumimoji="0" sz="30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jpeg"/></Relationships>
</file>

<file path=ppt/slides/_rels/slide1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jp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5FF786-4F10-2245-61F6-8F72B96C764D}"/>
              </a:ext>
            </a:extLst>
          </p:cNvPr>
          <p:cNvSpPr>
            <a:spLocks noGrp="1"/>
          </p:cNvSpPr>
          <p:nvPr>
            <p:ph type="title"/>
          </p:nvPr>
        </p:nvSpPr>
        <p:spPr>
          <a:xfrm>
            <a:off x="5257800" y="5906084"/>
            <a:ext cx="7772400" cy="914400"/>
          </a:xfrm>
        </p:spPr>
        <p:txBody>
          <a:bodyPr/>
          <a:lstStyle/>
          <a:p>
            <a:r>
              <a:rPr lang="es-EC" sz="2400" dirty="0" err="1"/>
              <a:t>Dr</a:t>
            </a:r>
            <a:r>
              <a:rPr lang="es-EC" sz="2400" dirty="0"/>
              <a:t> Luis Anzoátegui León</a:t>
            </a:r>
            <a:br>
              <a:rPr lang="es-EC" sz="2400" dirty="0"/>
            </a:br>
            <a:r>
              <a:rPr lang="es-EC" sz="2400" dirty="0"/>
              <a:t>16/02/2026</a:t>
            </a:r>
          </a:p>
        </p:txBody>
      </p:sp>
      <p:pic>
        <p:nvPicPr>
          <p:cNvPr id="5" name="Marcador de contenido 4">
            <a:extLst>
              <a:ext uri="{FF2B5EF4-FFF2-40B4-BE49-F238E27FC236}">
                <a16:creationId xmlns:a16="http://schemas.microsoft.com/office/drawing/2014/main" id="{09A2AE2C-415F-866B-D3EC-1B79B6206E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03603" y="934077"/>
            <a:ext cx="6993994" cy="4572000"/>
          </a:xfrm>
        </p:spPr>
      </p:pic>
    </p:spTree>
    <p:extLst>
      <p:ext uri="{BB962C8B-B14F-4D97-AF65-F5344CB8AC3E}">
        <p14:creationId xmlns:p14="http://schemas.microsoft.com/office/powerpoint/2010/main" val="505506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2843808" y="-322431"/>
            <a:ext cx="7772400" cy="288033"/>
          </a:xfrm>
        </p:spPr>
        <p:txBody>
          <a:bodyPr>
            <a:normAutofit fontScale="90000"/>
          </a:bodyPr>
          <a:lstStyle/>
          <a:p>
            <a:r>
              <a:rPr lang="it-IT" dirty="0"/>
              <a:t>   </a:t>
            </a:r>
            <a:br>
              <a:rPr lang="it-IT" dirty="0"/>
            </a:br>
            <a:r>
              <a:rPr lang="it-IT" dirty="0"/>
              <a:t>   </a:t>
            </a:r>
            <a:br>
              <a:rPr lang="it-IT" dirty="0"/>
            </a:br>
            <a:r>
              <a:rPr lang="it-IT" dirty="0"/>
              <a:t>  </a:t>
            </a:r>
            <a:r>
              <a:rPr lang="it-IT" sz="2200" dirty="0">
                <a:solidFill>
                  <a:srgbClr val="FFFF00"/>
                </a:solidFill>
              </a:rPr>
              <a:t>PROYECTO “AMED EC” </a:t>
            </a:r>
            <a:br>
              <a:rPr lang="it-IT" sz="2200" dirty="0">
                <a:solidFill>
                  <a:srgbClr val="FFFF00"/>
                </a:solidFill>
              </a:rPr>
            </a:br>
            <a:r>
              <a:rPr lang="it-IT" sz="2200" dirty="0">
                <a:solidFill>
                  <a:srgbClr val="FFFF00"/>
                </a:solidFill>
              </a:rPr>
              <a:t>ASISTENCIA MEDICA ECUADOR</a:t>
            </a:r>
            <a:br>
              <a:rPr lang="it-IT" sz="2200" dirty="0">
                <a:solidFill>
                  <a:srgbClr val="FFFF00"/>
                </a:solidFill>
              </a:rPr>
            </a:br>
            <a:r>
              <a:rPr lang="it-IT" sz="2200" dirty="0">
                <a:solidFill>
                  <a:srgbClr val="FFFF00"/>
                </a:solidFill>
              </a:rPr>
              <a:t>  Machala–el oro-ecuador</a:t>
            </a:r>
          </a:p>
        </p:txBody>
      </p:sp>
      <p:sp>
        <p:nvSpPr>
          <p:cNvPr id="5" name="Sottotitolo 4"/>
          <p:cNvSpPr>
            <a:spLocks noGrp="1"/>
          </p:cNvSpPr>
          <p:nvPr>
            <p:ph type="subTitle" idx="1"/>
          </p:nvPr>
        </p:nvSpPr>
        <p:spPr>
          <a:xfrm>
            <a:off x="1259632" y="5349240"/>
            <a:ext cx="7772400" cy="1508760"/>
          </a:xfrm>
        </p:spPr>
        <p:txBody>
          <a:bodyPr>
            <a:normAutofit/>
          </a:bodyPr>
          <a:lstStyle/>
          <a:p>
            <a:pPr algn="ctr"/>
            <a:r>
              <a:rPr lang="it-IT" sz="1400" b="1" dirty="0">
                <a:solidFill>
                  <a:srgbClr val="FFFF00"/>
                </a:solidFill>
              </a:rPr>
              <a:t>AUTOR – MENTOR</a:t>
            </a:r>
            <a:r>
              <a:rPr lang="it-IT" sz="1400" b="1" dirty="0"/>
              <a:t>: Dr Luis Felipe Anzoàtegui Leon</a:t>
            </a:r>
          </a:p>
          <a:p>
            <a:pPr algn="ctr"/>
            <a:r>
              <a:rPr lang="it-IT" sz="1400" b="1" dirty="0">
                <a:solidFill>
                  <a:srgbClr val="FFFF00"/>
                </a:solidFill>
              </a:rPr>
              <a:t>Desarrollador Informático: </a:t>
            </a:r>
            <a:r>
              <a:rPr lang="it-IT" sz="1400" b="1" dirty="0"/>
              <a:t>Ing</a:t>
            </a:r>
            <a:r>
              <a:rPr lang="it-IT" sz="1400" b="1" dirty="0">
                <a:solidFill>
                  <a:srgbClr val="FFFF00"/>
                </a:solidFill>
              </a:rPr>
              <a:t>. </a:t>
            </a:r>
            <a:r>
              <a:rPr lang="it-IT" sz="1400" b="1" dirty="0"/>
              <a:t>Pierre Briones Chastain           </a:t>
            </a:r>
          </a:p>
          <a:p>
            <a:pPr algn="ctr"/>
            <a:r>
              <a:rPr lang="it-IT" sz="1400" b="1"/>
              <a:t>17/07/2023</a:t>
            </a:r>
            <a:endParaRPr lang="it-IT" sz="1400" b="1" dirty="0"/>
          </a:p>
          <a:p>
            <a:pPr algn="ctr"/>
            <a:r>
              <a:rPr lang="it-IT" b="1" dirty="0"/>
              <a:t>    </a:t>
            </a:r>
          </a:p>
        </p:txBody>
      </p:sp>
      <p:pic>
        <p:nvPicPr>
          <p:cNvPr id="2050" name="Picture 2">
            <a:extLst>
              <a:ext uri="{FF2B5EF4-FFF2-40B4-BE49-F238E27FC236}">
                <a16:creationId xmlns:a16="http://schemas.microsoft.com/office/drawing/2014/main" id="{689A56DF-1EA9-4E17-9ECB-22877FF7E4F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44961" y="2348880"/>
            <a:ext cx="4863344" cy="3168352"/>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4EC519E5-0EF1-41AD-81A0-1FE7195F51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20272" y="224368"/>
            <a:ext cx="1696653" cy="1693511"/>
          </a:xfrm>
          <a:prstGeom prst="rect">
            <a:avLst/>
          </a:prstGeom>
        </p:spPr>
      </p:pic>
      <p:pic>
        <p:nvPicPr>
          <p:cNvPr id="13" name="Imagen 12">
            <a:extLst>
              <a:ext uri="{FF2B5EF4-FFF2-40B4-BE49-F238E27FC236}">
                <a16:creationId xmlns:a16="http://schemas.microsoft.com/office/drawing/2014/main" id="{0F2B4C6C-42DC-4819-9B5D-AD9BCE0990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7087" y="170500"/>
            <a:ext cx="1958976" cy="174737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043608" y="260648"/>
            <a:ext cx="7772400" cy="914400"/>
          </a:xfrm>
        </p:spPr>
        <p:txBody>
          <a:bodyPr/>
          <a:lstStyle/>
          <a:p>
            <a:r>
              <a:rPr lang="it-IT" dirty="0">
                <a:solidFill>
                  <a:srgbClr val="FFFF00"/>
                </a:solidFill>
              </a:rPr>
              <a:t>        “AMED EC”</a:t>
            </a:r>
            <a:br>
              <a:rPr lang="it-IT" dirty="0">
                <a:solidFill>
                  <a:srgbClr val="FFFF00"/>
                </a:solidFill>
              </a:rPr>
            </a:br>
            <a:r>
              <a:rPr lang="it-IT" dirty="0">
                <a:solidFill>
                  <a:srgbClr val="FFFF00"/>
                </a:solidFill>
              </a:rPr>
              <a:t>ASISTENCIA MEDICA ECUADOR</a:t>
            </a:r>
          </a:p>
        </p:txBody>
      </p:sp>
      <p:sp>
        <p:nvSpPr>
          <p:cNvPr id="3" name="Segnaposto contenuto 2"/>
          <p:cNvSpPr>
            <a:spLocks noGrp="1"/>
          </p:cNvSpPr>
          <p:nvPr>
            <p:ph idx="1"/>
          </p:nvPr>
        </p:nvSpPr>
        <p:spPr>
          <a:xfrm>
            <a:off x="251520" y="1632248"/>
            <a:ext cx="5169768" cy="5461864"/>
          </a:xfrm>
        </p:spPr>
        <p:txBody>
          <a:bodyPr>
            <a:normAutofit fontScale="55000" lnSpcReduction="20000"/>
          </a:bodyPr>
          <a:lstStyle/>
          <a:p>
            <a:r>
              <a:rPr lang="it-IT" dirty="0">
                <a:solidFill>
                  <a:srgbClr val="FFFF00"/>
                </a:solidFill>
              </a:rPr>
              <a:t>VISIÓN </a:t>
            </a:r>
          </a:p>
          <a:p>
            <a:pPr>
              <a:buNone/>
            </a:pPr>
            <a:r>
              <a:rPr lang="it-IT" dirty="0"/>
              <a:t>        Ofrecer una Herramienta Tecnológica amigable compatible con la sociedad fácil de manejar adaptado a las nuevas tendencias y exigencias tecnológicas del Siglo XXI, una Plataforma Médica Ejecutiva donde el beneficio sea tanto para la comunidad médica Orense y Ecuatoriana y la población en general y  con un modelo de Negocio que puede ser replicado en cualquier punto geográfico del país o fuera del mismo proyectándose como marca médica registrada Nacional con alcance Internacional, pudiéndose convertir en una empresa de seguros médicos ambulatorios y privados donde la Población Orense y Ecuatoriana tenga al alcance de un CLICK EN SU CELULAR su APP Médica descargable del Play Store sus servicios la ALTA GAMA y Variedad de Especialistas y Médicos Generales a Disposición de la Comunidad para resolver  sus problemas de Salud mediante un sistema de llamada y respuesta inmediata 24/7 donde la Población Civil pueda acceder a Servicios Médicos Privados con calidez y calidad a tan solo un Click de cada uno de sus smartphone celular.</a:t>
            </a:r>
          </a:p>
        </p:txBody>
      </p:sp>
      <p:graphicFrame>
        <p:nvGraphicFramePr>
          <p:cNvPr id="7" name="Gráfico 6">
            <a:extLst>
              <a:ext uri="{FF2B5EF4-FFF2-40B4-BE49-F238E27FC236}">
                <a16:creationId xmlns:a16="http://schemas.microsoft.com/office/drawing/2014/main" id="{3869D4A0-2FC3-4E55-BB16-FFEB3F4BB4AE}"/>
              </a:ext>
            </a:extLst>
          </p:cNvPr>
          <p:cNvGraphicFramePr/>
          <p:nvPr>
            <p:extLst>
              <p:ext uri="{D42A27DB-BD31-4B8C-83A1-F6EECF244321}">
                <p14:modId xmlns:p14="http://schemas.microsoft.com/office/powerpoint/2010/main" val="857465844"/>
              </p:ext>
            </p:extLst>
          </p:nvPr>
        </p:nvGraphicFramePr>
        <p:xfrm>
          <a:off x="5421288" y="1050812"/>
          <a:ext cx="3456384" cy="331236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Gráfico 9">
            <a:extLst>
              <a:ext uri="{FF2B5EF4-FFF2-40B4-BE49-F238E27FC236}">
                <a16:creationId xmlns:a16="http://schemas.microsoft.com/office/drawing/2014/main" id="{4AE145D5-C80D-4261-9A64-24CC15B97EAC}"/>
              </a:ext>
            </a:extLst>
          </p:cNvPr>
          <p:cNvGraphicFramePr/>
          <p:nvPr>
            <p:extLst>
              <p:ext uri="{D42A27DB-BD31-4B8C-83A1-F6EECF244321}">
                <p14:modId xmlns:p14="http://schemas.microsoft.com/office/powerpoint/2010/main" val="4114654702"/>
              </p:ext>
            </p:extLst>
          </p:nvPr>
        </p:nvGraphicFramePr>
        <p:xfrm>
          <a:off x="5436096" y="3569568"/>
          <a:ext cx="3456384" cy="331236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371600" y="188640"/>
            <a:ext cx="7772400" cy="914400"/>
          </a:xfrm>
        </p:spPr>
        <p:txBody>
          <a:bodyPr/>
          <a:lstStyle/>
          <a:p>
            <a:r>
              <a:rPr lang="it-IT" dirty="0">
                <a:solidFill>
                  <a:srgbClr val="FFFF00"/>
                </a:solidFill>
              </a:rPr>
              <a:t>        “AMED EC”</a:t>
            </a:r>
            <a:br>
              <a:rPr lang="it-IT" dirty="0">
                <a:solidFill>
                  <a:srgbClr val="FFFF00"/>
                </a:solidFill>
              </a:rPr>
            </a:br>
            <a:r>
              <a:rPr lang="it-IT" dirty="0">
                <a:solidFill>
                  <a:srgbClr val="FFFF00"/>
                </a:solidFill>
              </a:rPr>
              <a:t>ASISTENCIA MEDICA ECUADOR</a:t>
            </a:r>
          </a:p>
        </p:txBody>
      </p:sp>
      <p:sp>
        <p:nvSpPr>
          <p:cNvPr id="3" name="Segnaposto contenuto 2"/>
          <p:cNvSpPr>
            <a:spLocks noGrp="1"/>
          </p:cNvSpPr>
          <p:nvPr>
            <p:ph idx="1"/>
          </p:nvPr>
        </p:nvSpPr>
        <p:spPr>
          <a:xfrm>
            <a:off x="899592" y="1556792"/>
            <a:ext cx="3816424" cy="5301208"/>
          </a:xfrm>
        </p:spPr>
        <p:txBody>
          <a:bodyPr>
            <a:noAutofit/>
          </a:bodyPr>
          <a:lstStyle/>
          <a:p>
            <a:r>
              <a:rPr lang="it-IT" sz="1600" dirty="0">
                <a:solidFill>
                  <a:srgbClr val="FFFF00"/>
                </a:solidFill>
              </a:rPr>
              <a:t>MISIÓN: </a:t>
            </a:r>
          </a:p>
          <a:p>
            <a:pPr marL="68580" indent="0">
              <a:buNone/>
            </a:pPr>
            <a:r>
              <a:rPr lang="it-IT" sz="1600" dirty="0"/>
              <a:t>Consolidar en el tiempo una empresa híbrida mixta Físico Digital, Presencial y Online donde nuestra herramienta tecnològica AMED brinde servicios Médicos Online y Presencial con Respuesta Médica Inmediata 24 horas a tan solo un click de sus smartphones de bolsillo, los 7 dias de la semana a traves de un Call Center Permanente dentro de la APP que viabilizará la distribución y expansión de los servicios médicos con una amplia cobertura de pacientes que puedan acceder de manera inmediata al Primer Nivel, II Nivel y III Nivel de Atención Médico Clínica Especializada Público o Privada del Pais a traves de nuestro portafolio tecnológico de servicios, uso y beneficios entorno a AMED a precios populares y competitivos al alcance de la economía popular.</a:t>
            </a:r>
          </a:p>
        </p:txBody>
      </p:sp>
      <p:pic>
        <p:nvPicPr>
          <p:cNvPr id="5" name="Imagen 4">
            <a:extLst>
              <a:ext uri="{FF2B5EF4-FFF2-40B4-BE49-F238E27FC236}">
                <a16:creationId xmlns:a16="http://schemas.microsoft.com/office/drawing/2014/main" id="{A4D6D97C-326A-46D8-B983-71CA77B056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6889129" y="1965268"/>
            <a:ext cx="2048227" cy="1152128"/>
          </a:xfrm>
          <a:prstGeom prst="rect">
            <a:avLst/>
          </a:prstGeom>
        </p:spPr>
      </p:pic>
      <p:pic>
        <p:nvPicPr>
          <p:cNvPr id="7" name="Imagen 6">
            <a:extLst>
              <a:ext uri="{FF2B5EF4-FFF2-40B4-BE49-F238E27FC236}">
                <a16:creationId xmlns:a16="http://schemas.microsoft.com/office/drawing/2014/main" id="{F39DFDFB-521E-4B12-9B28-89EBE615D4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10788" y="5229200"/>
            <a:ext cx="1832429" cy="1216571"/>
          </a:xfrm>
          <a:prstGeom prst="rect">
            <a:avLst/>
          </a:prstGeom>
        </p:spPr>
      </p:pic>
      <p:pic>
        <p:nvPicPr>
          <p:cNvPr id="1026" name="Picture 2" descr="Call Center Vectores, Iconos, Gráficos y Fondos para Descargar Gratis">
            <a:extLst>
              <a:ext uri="{FF2B5EF4-FFF2-40B4-BE49-F238E27FC236}">
                <a16:creationId xmlns:a16="http://schemas.microsoft.com/office/drawing/2014/main" id="{21BEFAC4-84A3-44F7-BE2D-D7CD63EFFC3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09927" y="1847501"/>
            <a:ext cx="2029212" cy="135280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ospitales y clínicas médicas cerca de mi ubicación">
            <a:extLst>
              <a:ext uri="{FF2B5EF4-FFF2-40B4-BE49-F238E27FC236}">
                <a16:creationId xmlns:a16="http://schemas.microsoft.com/office/drawing/2014/main" id="{56C8AC4A-D735-4E74-8AA2-D03E3E52F5D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14680" y="3700269"/>
            <a:ext cx="1944893" cy="121657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IPOS DE AMBULANCIAS ¿QUÉ SON LAS SVAE? – BLOG EIR EFyC">
            <a:extLst>
              <a:ext uri="{FF2B5EF4-FFF2-40B4-BE49-F238E27FC236}">
                <a16:creationId xmlns:a16="http://schemas.microsoft.com/office/drawing/2014/main" id="{269DD269-7320-4FAC-AA40-31855819CD6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93902" y="3717419"/>
            <a:ext cx="2048227" cy="121463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No hay ninguna descripción de la foto disponible.">
            <a:extLst>
              <a:ext uri="{FF2B5EF4-FFF2-40B4-BE49-F238E27FC236}">
                <a16:creationId xmlns:a16="http://schemas.microsoft.com/office/drawing/2014/main" id="{6EC3BC08-B643-461F-B8A7-2AA356EE2DC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82954" y="5065415"/>
            <a:ext cx="1644010" cy="16440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835696" y="48126"/>
            <a:ext cx="7772400" cy="914400"/>
          </a:xfrm>
        </p:spPr>
        <p:txBody>
          <a:bodyPr/>
          <a:lstStyle/>
          <a:p>
            <a:r>
              <a:rPr lang="it-IT" sz="2800" dirty="0"/>
              <a:t>          </a:t>
            </a:r>
            <a:r>
              <a:rPr lang="it-IT" sz="2800" dirty="0">
                <a:solidFill>
                  <a:srgbClr val="FFFF00"/>
                </a:solidFill>
              </a:rPr>
              <a:t>“AMED EC”</a:t>
            </a:r>
            <a:br>
              <a:rPr lang="it-IT" sz="2800" dirty="0">
                <a:solidFill>
                  <a:srgbClr val="FFFF00"/>
                </a:solidFill>
              </a:rPr>
            </a:br>
            <a:r>
              <a:rPr lang="it-IT" sz="2800" dirty="0">
                <a:solidFill>
                  <a:srgbClr val="FFFF00"/>
                </a:solidFill>
              </a:rPr>
              <a:t>  ASISTENCIA MEDICA ECUADOR</a:t>
            </a:r>
          </a:p>
        </p:txBody>
      </p:sp>
      <p:sp>
        <p:nvSpPr>
          <p:cNvPr id="3" name="Segnaposto contenuto 2"/>
          <p:cNvSpPr>
            <a:spLocks noGrp="1"/>
          </p:cNvSpPr>
          <p:nvPr>
            <p:ph idx="1"/>
          </p:nvPr>
        </p:nvSpPr>
        <p:spPr>
          <a:xfrm>
            <a:off x="323528" y="1147301"/>
            <a:ext cx="6264696" cy="6214392"/>
          </a:xfrm>
        </p:spPr>
        <p:txBody>
          <a:bodyPr>
            <a:normAutofit fontScale="62500" lnSpcReduction="20000"/>
          </a:bodyPr>
          <a:lstStyle/>
          <a:p>
            <a:r>
              <a:rPr lang="it-IT" sz="2400" b="1" dirty="0">
                <a:solidFill>
                  <a:srgbClr val="FFFF00"/>
                </a:solidFill>
              </a:rPr>
              <a:t>ALCANCE DEL PROYECTO</a:t>
            </a:r>
          </a:p>
          <a:p>
            <a:pPr>
              <a:buNone/>
            </a:pPr>
            <a:r>
              <a:rPr lang="it-IT" sz="2400" dirty="0"/>
              <a:t>El Proyecto AMED es ambicioso, su alcance es Mixto.</a:t>
            </a:r>
          </a:p>
          <a:p>
            <a:pPr>
              <a:buNone/>
            </a:pPr>
            <a:endParaRPr lang="it-IT" sz="2400" dirty="0"/>
          </a:p>
          <a:p>
            <a:pPr marL="582930" indent="-514350">
              <a:buFont typeface="+mj-lt"/>
              <a:buAutoNum type="arabicPeriod"/>
            </a:pPr>
            <a:r>
              <a:rPr lang="it-IT" sz="2400" dirty="0"/>
              <a:t>Por una parte esta dirigido de manera comercial hacia la comunidad médica donde para ser miembros activos de AMED deberán acceder al PAGO de una Membresia (ORO, BRONCE y PLATA) para ser Miembro de AMED y Obtener todos los beneficios y usos que le permite desenvolverse con la aplicación en el ámbito profesional digital online 24/7.</a:t>
            </a:r>
          </a:p>
          <a:p>
            <a:pPr marL="582930" indent="-514350">
              <a:buFont typeface="+mj-lt"/>
              <a:buAutoNum type="arabicPeriod"/>
            </a:pPr>
            <a:endParaRPr lang="it-IT" sz="2400" dirty="0"/>
          </a:p>
          <a:p>
            <a:pPr marL="582930" indent="-514350">
              <a:buFont typeface="+mj-lt"/>
              <a:buAutoNum type="arabicPeriod"/>
            </a:pPr>
            <a:r>
              <a:rPr lang="it-IT" sz="2400" dirty="0"/>
              <a:t>Por otra parte esta dirigido a la Población en general que se encuentren en las búsqueda de médicos generales o especialistas para resolver sus patologias de acuerdo a la dolencia existente respectiva. La Poblacion Civil, La Ciudadania tendrá una Aplicacion Movil (APP) Descargable del Play Store donde a traves de una linea directa de whatsapp conectada a un call center tendrán acceso a reservas, agendamientos de citas médicas, teleconsultas médicas, combos médicos,  odontológicos, estéticos, servicios de farmacia, delivery de Servicios Medicos entre otros para usufructo y beneficio de la Población con Precios Accesibles acordes al mercado Orense con Alcance Popular.</a:t>
            </a:r>
          </a:p>
          <a:p>
            <a:pPr marL="582930" indent="-514350">
              <a:buFont typeface="+mj-lt"/>
              <a:buAutoNum type="arabicPeriod"/>
            </a:pPr>
            <a:endParaRPr lang="it-IT" sz="2400" dirty="0"/>
          </a:p>
          <a:p>
            <a:pPr marL="582930" indent="-514350">
              <a:buFont typeface="+mj-lt"/>
              <a:buAutoNum type="arabicPeriod"/>
            </a:pPr>
            <a:r>
              <a:rPr lang="it-IT" sz="2400" dirty="0"/>
              <a:t>También está dirigido para médicos particulares, clinicas particulares, torres médicas o centros de salud donde, dentro de nuestra Aplicación su Clínica Virtual o Servicios de su Institución sean una Herramienta visible en Potencia al momento de que los usuarios de la aplicación deseen acceder a algun tipo de Atención específica en Salud.</a:t>
            </a:r>
          </a:p>
          <a:p>
            <a:pPr marL="582930" indent="-514350">
              <a:buFont typeface="+mj-lt"/>
              <a:buAutoNum type="arabicPeriod"/>
            </a:pPr>
            <a:endParaRPr lang="it-IT" sz="1800" dirty="0"/>
          </a:p>
          <a:p>
            <a:pPr>
              <a:buNone/>
            </a:pPr>
            <a:endParaRPr lang="it-IT" dirty="0"/>
          </a:p>
        </p:txBody>
      </p:sp>
      <p:pic>
        <p:nvPicPr>
          <p:cNvPr id="3078" name="Picture 6" descr="Grupo Médico SG | Facebook">
            <a:extLst>
              <a:ext uri="{FF2B5EF4-FFF2-40B4-BE49-F238E27FC236}">
                <a16:creationId xmlns:a16="http://schemas.microsoft.com/office/drawing/2014/main" id="{52540240-3D33-4299-AEA0-F4516336553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4848" y="1312694"/>
            <a:ext cx="2339752" cy="153352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Los Médicos Del Grupo Médico Fotos, Retratos, Imágenes Y Fotografía De  Archivo Libres De Derecho. Image 13388352.">
            <a:extLst>
              <a:ext uri="{FF2B5EF4-FFF2-40B4-BE49-F238E27FC236}">
                <a16:creationId xmlns:a16="http://schemas.microsoft.com/office/drawing/2014/main" id="{26892CA7-A2C8-408D-9F27-7488D2B951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04847" y="3168332"/>
            <a:ext cx="2339753" cy="1646764"/>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La venta digital: la mejor aliada de tu fuerza de ventas">
            <a:extLst>
              <a:ext uri="{FF2B5EF4-FFF2-40B4-BE49-F238E27FC236}">
                <a16:creationId xmlns:a16="http://schemas.microsoft.com/office/drawing/2014/main" id="{3E2C1B80-3A75-49EA-91A5-7A89723AC09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76855" y="5229200"/>
            <a:ext cx="2195736" cy="12351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691680" y="188640"/>
            <a:ext cx="7772400" cy="914400"/>
          </a:xfrm>
        </p:spPr>
        <p:txBody>
          <a:bodyPr/>
          <a:lstStyle/>
          <a:p>
            <a:r>
              <a:rPr lang="it-IT" dirty="0">
                <a:solidFill>
                  <a:srgbClr val="FFFF00"/>
                </a:solidFill>
              </a:rPr>
              <a:t>        “</a:t>
            </a:r>
            <a:r>
              <a:rPr lang="it-IT" sz="2000" dirty="0">
                <a:solidFill>
                  <a:srgbClr val="FFFF00"/>
                </a:solidFill>
              </a:rPr>
              <a:t>AMED EC”</a:t>
            </a:r>
            <a:br>
              <a:rPr lang="it-IT" sz="2000" dirty="0">
                <a:solidFill>
                  <a:srgbClr val="FFFF00"/>
                </a:solidFill>
              </a:rPr>
            </a:br>
            <a:r>
              <a:rPr lang="it-IT" sz="2000" dirty="0">
                <a:solidFill>
                  <a:srgbClr val="FFFF00"/>
                </a:solidFill>
              </a:rPr>
              <a:t>          ASISTENCIA MÉDICA ECUADOR</a:t>
            </a:r>
          </a:p>
        </p:txBody>
      </p:sp>
      <p:sp>
        <p:nvSpPr>
          <p:cNvPr id="3" name="Segnaposto contenuto 2"/>
          <p:cNvSpPr>
            <a:spLocks noGrp="1"/>
          </p:cNvSpPr>
          <p:nvPr>
            <p:ph idx="1"/>
          </p:nvPr>
        </p:nvSpPr>
        <p:spPr>
          <a:xfrm>
            <a:off x="914400" y="1484784"/>
            <a:ext cx="7772400" cy="5373216"/>
          </a:xfrm>
        </p:spPr>
        <p:txBody>
          <a:bodyPr>
            <a:normAutofit fontScale="47500" lnSpcReduction="20000"/>
          </a:bodyPr>
          <a:lstStyle/>
          <a:p>
            <a:pPr>
              <a:buNone/>
            </a:pPr>
            <a:r>
              <a:rPr lang="it-IT" sz="3500" b="1" dirty="0">
                <a:solidFill>
                  <a:srgbClr val="FFFF00"/>
                </a:solidFill>
              </a:rPr>
              <a:t>                                 BENEFICIOS PARA LA COMUNIDAD MÉDICA</a:t>
            </a:r>
          </a:p>
          <a:p>
            <a:pPr>
              <a:buNone/>
            </a:pPr>
            <a:endParaRPr lang="it-IT" sz="3800" dirty="0">
              <a:solidFill>
                <a:srgbClr val="FFFF00"/>
              </a:solidFill>
            </a:endParaRPr>
          </a:p>
          <a:p>
            <a:pPr marL="582930" indent="-514350">
              <a:buFont typeface="+mj-lt"/>
              <a:buAutoNum type="arabicPeriod"/>
            </a:pPr>
            <a:r>
              <a:rPr lang="it-IT" sz="4000" b="1" dirty="0">
                <a:solidFill>
                  <a:srgbClr val="FFFF00"/>
                </a:solidFill>
              </a:rPr>
              <a:t>Membresía Médica</a:t>
            </a:r>
            <a:r>
              <a:rPr lang="it-IT" sz="4000" dirty="0"/>
              <a:t>: Oro($500), Bronce($380) y Plata(250).</a:t>
            </a:r>
          </a:p>
          <a:p>
            <a:pPr marL="582930" indent="-514350">
              <a:buFont typeface="+mj-lt"/>
              <a:buAutoNum type="arabicPeriod"/>
            </a:pPr>
            <a:r>
              <a:rPr lang="it-IT" sz="4000" b="1" dirty="0">
                <a:solidFill>
                  <a:srgbClr val="FFFF00"/>
                </a:solidFill>
              </a:rPr>
              <a:t>Agendamiento y reserva de citas médicas online (Teleconsultas) Y fisica Presencial en consultorios particulares o domicilios </a:t>
            </a:r>
            <a:r>
              <a:rPr lang="it-IT" sz="4000" dirty="0"/>
              <a:t>sin la necesidad de que el paciente visite el consultorio del galeno sino que el propio Médico desde cualquier punto geográfico que esté a traves de un link en su smarthpone(MEDIANTE LA APP) podra derivar su sistema de pago en linea inteligente, facil, sencillo y confiable donde la venta del Servicio o Producto Médico Final derive en una  reserva de cita con opción a cerrar una Venta Segura. Sea cual sea el servicio medico o de salud requerido.</a:t>
            </a:r>
          </a:p>
          <a:p>
            <a:pPr marL="582930" indent="-514350">
              <a:buNone/>
            </a:pPr>
            <a:r>
              <a:rPr lang="it-IT" sz="4000" dirty="0"/>
              <a:t> </a:t>
            </a:r>
          </a:p>
          <a:p>
            <a:pPr marL="582930" indent="-514350">
              <a:buFont typeface="+mj-lt"/>
              <a:buAutoNum type="arabicPeriod"/>
            </a:pPr>
            <a:r>
              <a:rPr lang="it-IT" sz="4000" b="1" dirty="0">
                <a:solidFill>
                  <a:srgbClr val="FFFF00"/>
                </a:solidFill>
              </a:rPr>
              <a:t>Disposición de un Call Center  24/7 para todo Miembro activo de AMED dentro de la APP</a:t>
            </a:r>
            <a:r>
              <a:rPr lang="it-IT" sz="4000" dirty="0">
                <a:solidFill>
                  <a:srgbClr val="FFFF00"/>
                </a:solidFill>
              </a:rPr>
              <a:t> </a:t>
            </a:r>
            <a:r>
              <a:rPr lang="it-IT" sz="4000" dirty="0"/>
              <a:t>que a través de su línea directa de wsapp o servicio al Cliente dentro de la aplicación todos quienes sean miembros de AMED podrán acceder al universo global de pacientes que ofrece el Mundo Virtual con un manejo óptimo de Publicidad y Propagandas en las redes sociales  Corporativas de AMED.</a:t>
            </a:r>
          </a:p>
          <a:p>
            <a:pPr marL="582930" indent="-514350">
              <a:buNone/>
            </a:pPr>
            <a:endParaRPr lang="it-IT" sz="4000" dirty="0"/>
          </a:p>
          <a:p>
            <a:pPr marL="582930" indent="-514350">
              <a:buFont typeface="+mj-lt"/>
              <a:buAutoNum type="arabicPeriod"/>
            </a:pPr>
            <a:endParaRPr lang="it-IT" sz="3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F80465-9A69-4283-BFD1-7D4FE4D89822}"/>
              </a:ext>
            </a:extLst>
          </p:cNvPr>
          <p:cNvSpPr>
            <a:spLocks noGrp="1"/>
          </p:cNvSpPr>
          <p:nvPr>
            <p:ph type="title"/>
          </p:nvPr>
        </p:nvSpPr>
        <p:spPr>
          <a:xfrm>
            <a:off x="1043608" y="1052736"/>
            <a:ext cx="7772400" cy="914400"/>
          </a:xfrm>
        </p:spPr>
        <p:txBody>
          <a:bodyPr/>
          <a:lstStyle/>
          <a:p>
            <a:pPr marL="342900" indent="-342900">
              <a:buFont typeface="Arial" panose="020B0604020202020204" pitchFamily="34" charset="0"/>
              <a:buChar char="•"/>
            </a:pPr>
            <a:r>
              <a:rPr lang="it-IT" sz="1600" b="1" dirty="0">
                <a:solidFill>
                  <a:srgbClr val="FFFF00"/>
                </a:solidFill>
              </a:rPr>
              <a:t>Podrán los  Miembros Médicos de AMED acceder mediantes planes prepagados a Publicidad Medica en nuestras redes sociales de Facebook, Instagram, TIK TOK Y LINKEDIN con Pautas publicitarias </a:t>
            </a:r>
            <a:r>
              <a:rPr lang="it-IT" sz="1600" b="1" dirty="0"/>
              <a:t>en donde el vender los servicios medicos en redes no pase desapercibido</a:t>
            </a:r>
            <a:r>
              <a:rPr lang="it-IT" sz="1600" dirty="0"/>
              <a:t>, Pues el momento de llevar sus servicios medicos a las redes sociales y al mundo digital virtual expande y asegura un amplio universo de pacientes ampliando su cobertura total. </a:t>
            </a:r>
            <a:br>
              <a:rPr lang="it-IT" sz="1600" dirty="0"/>
            </a:br>
            <a:endParaRPr lang="es-ES" sz="1600" dirty="0"/>
          </a:p>
        </p:txBody>
      </p:sp>
      <p:pic>
        <p:nvPicPr>
          <p:cNvPr id="2052" name="Picture 4">
            <a:extLst>
              <a:ext uri="{FF2B5EF4-FFF2-40B4-BE49-F238E27FC236}">
                <a16:creationId xmlns:a16="http://schemas.microsoft.com/office/drawing/2014/main" id="{F7137D01-2C71-4702-A988-022FDF9613A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20301" y="3140968"/>
            <a:ext cx="4530982" cy="3015163"/>
          </a:xfrm>
          <a:prstGeom prst="rect">
            <a:avLst/>
          </a:prstGeom>
          <a:noFill/>
          <a:extLst>
            <a:ext uri="{909E8E84-426E-40DD-AFC4-6F175D3DCCD1}">
              <a14:hiddenFill xmlns:a14="http://schemas.microsoft.com/office/drawing/2010/main">
                <a:solidFill>
                  <a:srgbClr val="FFFFFF"/>
                </a:solidFill>
              </a14:hiddenFill>
            </a:ext>
          </a:extLst>
        </p:spPr>
      </p:pic>
      <p:sp>
        <p:nvSpPr>
          <p:cNvPr id="8" name="Marcador de contenido 7">
            <a:extLst>
              <a:ext uri="{FF2B5EF4-FFF2-40B4-BE49-F238E27FC236}">
                <a16:creationId xmlns:a16="http://schemas.microsoft.com/office/drawing/2014/main" id="{8CCE4E62-E1BD-4AC9-9449-8D73CF25B456}"/>
              </a:ext>
            </a:extLst>
          </p:cNvPr>
          <p:cNvSpPr>
            <a:spLocks noGrp="1"/>
          </p:cNvSpPr>
          <p:nvPr>
            <p:ph idx="1"/>
          </p:nvPr>
        </p:nvSpPr>
        <p:spPr>
          <a:xfrm>
            <a:off x="899592" y="6309320"/>
            <a:ext cx="7772400" cy="4572000"/>
          </a:xfrm>
        </p:spPr>
        <p:txBody>
          <a:bodyPr/>
          <a:lstStyle/>
          <a:p>
            <a:endParaRPr lang="es-ES" dirty="0"/>
          </a:p>
        </p:txBody>
      </p:sp>
    </p:spTree>
    <p:extLst>
      <p:ext uri="{BB962C8B-B14F-4D97-AF65-F5344CB8AC3E}">
        <p14:creationId xmlns:p14="http://schemas.microsoft.com/office/powerpoint/2010/main" val="3583170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2123728" y="260648"/>
            <a:ext cx="7772400" cy="914400"/>
          </a:xfrm>
        </p:spPr>
        <p:txBody>
          <a:bodyPr/>
          <a:lstStyle/>
          <a:p>
            <a:r>
              <a:rPr lang="it-IT" dirty="0">
                <a:solidFill>
                  <a:srgbClr val="FFFF00"/>
                </a:solidFill>
              </a:rPr>
              <a:t>       </a:t>
            </a:r>
            <a:r>
              <a:rPr lang="it-IT" sz="1800" dirty="0">
                <a:solidFill>
                  <a:srgbClr val="FFFF00"/>
                </a:solidFill>
              </a:rPr>
              <a:t>“AMED EC”</a:t>
            </a:r>
            <a:br>
              <a:rPr lang="it-IT" sz="1800" dirty="0">
                <a:solidFill>
                  <a:srgbClr val="FFFF00"/>
                </a:solidFill>
              </a:rPr>
            </a:br>
            <a:r>
              <a:rPr lang="it-IT" sz="1800" dirty="0">
                <a:solidFill>
                  <a:srgbClr val="FFFF00"/>
                </a:solidFill>
              </a:rPr>
              <a:t>          ASISTENCIA MÉDICA ECUADOR</a:t>
            </a:r>
          </a:p>
        </p:txBody>
      </p:sp>
      <p:sp>
        <p:nvSpPr>
          <p:cNvPr id="3" name="Segnaposto contenuto 2"/>
          <p:cNvSpPr>
            <a:spLocks noGrp="1"/>
          </p:cNvSpPr>
          <p:nvPr>
            <p:ph idx="1"/>
          </p:nvPr>
        </p:nvSpPr>
        <p:spPr>
          <a:xfrm>
            <a:off x="467544" y="1412776"/>
            <a:ext cx="5254352" cy="5445224"/>
          </a:xfrm>
        </p:spPr>
        <p:txBody>
          <a:bodyPr>
            <a:normAutofit fontScale="55000" lnSpcReduction="20000"/>
          </a:bodyPr>
          <a:lstStyle/>
          <a:p>
            <a:pPr marL="582930" indent="-514350">
              <a:buNone/>
            </a:pPr>
            <a:r>
              <a:rPr lang="it-IT" sz="3200" dirty="0">
                <a:solidFill>
                  <a:srgbClr val="FFFF00"/>
                </a:solidFill>
              </a:rPr>
              <a:t>Beneficios Para la Comunidad Médica</a:t>
            </a:r>
          </a:p>
          <a:p>
            <a:pPr marL="582930" indent="-514350"/>
            <a:endParaRPr lang="it-IT" sz="3200" dirty="0"/>
          </a:p>
          <a:p>
            <a:pPr marL="582930" indent="-514350"/>
            <a:r>
              <a:rPr lang="it-IT" sz="3200" dirty="0"/>
              <a:t>Su Marca Médica Personal, Torre Médica, Clinica particular o cualquier institución de Salud, farmacia, spa, o cualquier centro de salud o producto relacionado con SALUD podrán vender sus servicios o productos médicos a traves de nuestro Portal de servicios médicos en linea como una tienda AMAZON Dentro de la Aplicación AMED y su pagina Médica Corporativa.</a:t>
            </a:r>
          </a:p>
          <a:p>
            <a:pPr marL="582930" indent="-514350">
              <a:buFont typeface="+mj-lt"/>
              <a:buAutoNum type="arabicPeriod"/>
            </a:pPr>
            <a:endParaRPr lang="it-IT" sz="3200" dirty="0"/>
          </a:p>
          <a:p>
            <a:pPr marL="582930" indent="-514350"/>
            <a:r>
              <a:rPr lang="it-IT" sz="3200" dirty="0"/>
              <a:t>Fomentar con el AVAL del Colegio de Médicos de EL ORO y junto a Avales Universitarios Brindar Conferencias Médicas o Capacitaciones  Médicas Virtuales continuas a traves de nuestra Aplicación o Página Médica Corporativa fomentar la Ciencia y el Fortalecimiento Académico Continuo dentro de los Socios Activos de AMED y la comunidad de la Provincia de EL Oro.</a:t>
            </a:r>
          </a:p>
          <a:p>
            <a:pPr marL="582930" indent="-514350">
              <a:buFont typeface="+mj-lt"/>
              <a:buAutoNum type="arabicPeriod"/>
            </a:pPr>
            <a:endParaRPr lang="it-IT" sz="3200" dirty="0"/>
          </a:p>
          <a:p>
            <a:endParaRPr lang="it-IT" dirty="0"/>
          </a:p>
        </p:txBody>
      </p:sp>
      <p:pic>
        <p:nvPicPr>
          <p:cNvPr id="3074" name="Picture 2" descr="DIPLOMADOS VIRTUALES PARA SECTOR SALUD. – CORPORACION EDUCATIVA AVANCEMOS">
            <a:extLst>
              <a:ext uri="{FF2B5EF4-FFF2-40B4-BE49-F238E27FC236}">
                <a16:creationId xmlns:a16="http://schemas.microsoft.com/office/drawing/2014/main" id="{7C7EC24A-9A78-48D4-946D-D934D169401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8144" y="3041576"/>
            <a:ext cx="2592288" cy="25922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907704" y="0"/>
            <a:ext cx="7772400" cy="914400"/>
          </a:xfrm>
        </p:spPr>
        <p:txBody>
          <a:bodyPr/>
          <a:lstStyle/>
          <a:p>
            <a:r>
              <a:rPr lang="it-IT" sz="1800" dirty="0"/>
              <a:t>                   “</a:t>
            </a:r>
            <a:r>
              <a:rPr lang="it-IT" sz="1800" dirty="0">
                <a:solidFill>
                  <a:srgbClr val="FFFF00"/>
                </a:solidFill>
              </a:rPr>
              <a:t>AMED EC”</a:t>
            </a:r>
            <a:br>
              <a:rPr lang="it-IT" sz="1800" dirty="0">
                <a:solidFill>
                  <a:srgbClr val="FFFF00"/>
                </a:solidFill>
              </a:rPr>
            </a:br>
            <a:r>
              <a:rPr lang="it-IT" sz="1800" dirty="0">
                <a:solidFill>
                  <a:srgbClr val="FFFF00"/>
                </a:solidFill>
              </a:rPr>
              <a:t>          ASISTENCIA MÉDICA ECUADOR</a:t>
            </a:r>
          </a:p>
        </p:txBody>
      </p:sp>
      <p:sp>
        <p:nvSpPr>
          <p:cNvPr id="3" name="Segnaposto contenuto 2"/>
          <p:cNvSpPr>
            <a:spLocks noGrp="1"/>
          </p:cNvSpPr>
          <p:nvPr>
            <p:ph idx="1"/>
          </p:nvPr>
        </p:nvSpPr>
        <p:spPr>
          <a:xfrm>
            <a:off x="914400" y="914400"/>
            <a:ext cx="7772400" cy="7267128"/>
          </a:xfrm>
        </p:spPr>
        <p:txBody>
          <a:bodyPr>
            <a:normAutofit fontScale="40000" lnSpcReduction="20000"/>
          </a:bodyPr>
          <a:lstStyle/>
          <a:p>
            <a:pPr>
              <a:buNone/>
            </a:pPr>
            <a:r>
              <a:rPr lang="it-IT" sz="4000" b="1" dirty="0">
                <a:solidFill>
                  <a:srgbClr val="FFFF00"/>
                </a:solidFill>
              </a:rPr>
              <a:t>Beneficios Para la Comunidad Médica</a:t>
            </a:r>
          </a:p>
          <a:p>
            <a:pPr>
              <a:buNone/>
            </a:pPr>
            <a:r>
              <a:rPr lang="it-IT" sz="3500" dirty="0">
                <a:solidFill>
                  <a:srgbClr val="FFFF00"/>
                </a:solidFill>
              </a:rPr>
              <a:t>     </a:t>
            </a:r>
            <a:endParaRPr lang="it-IT" sz="3500" dirty="0"/>
          </a:p>
          <a:p>
            <a:pPr marL="582930" indent="-514350"/>
            <a:r>
              <a:rPr lang="it-IT" sz="3500" dirty="0"/>
              <a:t>Representatividad Digital de su Marca Medica Personal y Posicionamiento de marca en los motores inteligentes de búsqueda ràpida de Google.</a:t>
            </a:r>
          </a:p>
          <a:p>
            <a:pPr marL="582930" indent="-514350"/>
            <a:endParaRPr lang="it-IT" sz="3500" dirty="0"/>
          </a:p>
          <a:p>
            <a:pPr marL="582930" indent="-514350"/>
            <a:r>
              <a:rPr lang="it-IT" sz="3500" dirty="0"/>
              <a:t>El Colegio de Mèdicos de El Oro puede constituirse en el tiempo como una gran empresa de seguros médicos  ambulatorios  privados y de hospitalización clínica de emergencia haciendo uso de las instituciones médicas dentro de los miembros socios activos de </a:t>
            </a:r>
            <a:r>
              <a:rPr lang="it-IT" sz="3500" b="1" dirty="0"/>
              <a:t>AMED</a:t>
            </a:r>
            <a:r>
              <a:rPr lang="it-IT" sz="3500" dirty="0"/>
              <a:t> </a:t>
            </a:r>
            <a:r>
              <a:rPr lang="it-IT" sz="3500" b="1" dirty="0"/>
              <a:t>EC </a:t>
            </a:r>
            <a:r>
              <a:rPr lang="it-IT" sz="3500" dirty="0"/>
              <a:t>como Socios Comerciales Directos.</a:t>
            </a:r>
          </a:p>
          <a:p>
            <a:pPr marL="582930" indent="-514350"/>
            <a:endParaRPr lang="it-IT" sz="3500" dirty="0"/>
          </a:p>
          <a:p>
            <a:pPr marL="582930" indent="-514350"/>
            <a:r>
              <a:rPr lang="it-IT" sz="3500" dirty="0"/>
              <a:t>El Colegio de Médicos por requerimiento de AMED Y Consolidándose como empresa tiene como Proyecto a la larga que el COLEGIO DE MÉDICOS CREE UNA FUNDACIÓN de Medicamentos gratuitos de DIFÍcil acceso a la sociedad (Banco de Farmacos Antiretrovirales, Quimioterapias, Fármacos Oncológicos, DONACIONES FARMACEUTICAS GRATUITAS) ETC O Ejecutar un Proyecto de FARMACIA COMUNITARIA PRIVADA CON ALCANCE POPULAR donde queden réditos económicos para AMED  Y el COLEGIO DE MÉDICOS  DE EL ORO AL CONSTITUIRSE EN UN FUTURO LAS  MULTIPLES FARMACIAS VIRTUALES CON CODIGO QR  en cada establecimiento farmacéutico estableciendo nuestra identidad digital CON OPCION A SER  DESCARGADOS SOCIALMENTE  DENTRO DE LAS FARMACIAS SOCIAS  COMERCIALES DE AMED  Y SER FUENTE DE TRABAJO Y CREAR NUESTRA PROPIA EMPRESA DE MOTODELIVERY  Y VENTA DE SERVICIOS FARMACEUTICOS ONLINE DENTRO DE LA PROVINCIA DE EL ORO.</a:t>
            </a:r>
          </a:p>
          <a:p>
            <a:pPr marL="582930" indent="-514350"/>
            <a:endParaRPr lang="it-IT" sz="3500" dirty="0"/>
          </a:p>
          <a:p>
            <a:pPr marL="582930" indent="-514350"/>
            <a:r>
              <a:rPr lang="it-IT" sz="3500" dirty="0"/>
              <a:t>Facilidad de desarrollar  de manera individualizada por cada galeno o casa de salud dentro de la Aplicación su propio botón de pago para canalizar sus ventas de manera directa  a sus bolsillos o se le vende la misma tecnología con 1500 dolares de entrada y a diferentes plazos. El desarrollo de un replicativo de mi tecnología (SUBFRANQUICIA) que no saldra al costo real (20000 dolares) pero si podrán acceder a nuevas tecnologías con Inteligencia Artificial por un Valor Oferta de $8.000 DOLARES, obteniendo una replica del còdigo fuente de AMED con la disponibilidad de colocarle el nombre que ud desee de acuerdo a sus gustos y preferencias (Instituciones de Salud Publicas o Privadas ) con las mismas caracteristicas, usos y funciones.</a:t>
            </a:r>
          </a:p>
          <a:p>
            <a:pPr marL="582930" indent="-514350"/>
            <a:endParaRPr lang="it-IT" sz="2800" dirty="0">
              <a:solidFill>
                <a:srgbClr val="FFFF00"/>
              </a:solidFill>
            </a:endParaRPr>
          </a:p>
          <a:p>
            <a:pPr marL="582930" indent="-514350"/>
            <a:endParaRPr lang="it-IT" sz="2800" dirty="0">
              <a:solidFill>
                <a:srgbClr val="FFFF00"/>
              </a:solidFill>
            </a:endParaRPr>
          </a:p>
          <a:p>
            <a:pPr>
              <a:buNone/>
            </a:pPr>
            <a:endParaRPr lang="it-IT" sz="2800" dirty="0">
              <a:solidFill>
                <a:srgbClr val="FFFF00"/>
              </a:solidFill>
            </a:endParaRPr>
          </a:p>
          <a:p>
            <a:pPr>
              <a:buNone/>
            </a:pPr>
            <a:endParaRPr lang="it-IT" sz="2800" dirty="0">
              <a:solidFill>
                <a:srgbClr val="FFFF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p:cNvSpPr>
            <a:spLocks noGrp="1"/>
          </p:cNvSpPr>
          <p:nvPr>
            <p:ph idx="1"/>
          </p:nvPr>
        </p:nvSpPr>
        <p:spPr>
          <a:xfrm>
            <a:off x="611560" y="1268760"/>
            <a:ext cx="8075240" cy="5086800"/>
          </a:xfrm>
        </p:spPr>
        <p:txBody>
          <a:bodyPr>
            <a:normAutofit fontScale="47500" lnSpcReduction="20000"/>
          </a:bodyPr>
          <a:lstStyle/>
          <a:p>
            <a:pPr>
              <a:buNone/>
            </a:pPr>
            <a:r>
              <a:rPr lang="it-IT" b="1" dirty="0">
                <a:solidFill>
                  <a:srgbClr val="FFFF00"/>
                </a:solidFill>
              </a:rPr>
              <a:t>BENEFICIOS PARA LA POBLACION EN GENERAL</a:t>
            </a:r>
          </a:p>
          <a:p>
            <a:r>
              <a:rPr lang="it-IT" dirty="0"/>
              <a:t>Tener a su disposición la variedad de elección DE GALENOS mediante una </a:t>
            </a:r>
            <a:r>
              <a:rPr lang="it-IT" b="1" dirty="0"/>
              <a:t>APP MEDICA DE EMERGENCIA</a:t>
            </a:r>
            <a:r>
              <a:rPr lang="it-IT" dirty="0"/>
              <a:t> de medicos generales y especialistas al alcance de un click 24/7 en tiempo Real dentro y fuera de la provincia en cualquier parte o punto geográfico del Pais.</a:t>
            </a:r>
          </a:p>
          <a:p>
            <a:endParaRPr lang="it-IT" dirty="0"/>
          </a:p>
          <a:p>
            <a:r>
              <a:rPr lang="it-IT" dirty="0"/>
              <a:t>Poseer una Plataforma Médica Ejecutiva con Spots Publicitarios Online dentro de las actualizaciones Mensuales dentro de nuestra página corporativa y APP con la variedad de ofertas médicas en cuanto a Salud de todo tipo para satisfacer todo gusto o requerimiento de salud ciudadano.</a:t>
            </a:r>
          </a:p>
          <a:p>
            <a:endParaRPr lang="it-IT" dirty="0"/>
          </a:p>
          <a:p>
            <a:r>
              <a:rPr lang="it-IT" dirty="0"/>
              <a:t>Acceder a una Plataforma Médica Ejecutiva con Pasarela de Pago donde se pueda evidenciar la visualización de todos los Médicos Generales o especialistas, su historial profesional y académico satisfaciendo los gustos o inquietudes en cuanto a la formacion del profesional que los van a atender.</a:t>
            </a:r>
          </a:p>
          <a:p>
            <a:endParaRPr lang="it-IT" dirty="0"/>
          </a:p>
          <a:p>
            <a:r>
              <a:rPr lang="it-IT" dirty="0"/>
              <a:t>Acceder a Combos Médicos y todo tipo de servicio de Salud a las mejores Ofertas Mensuales de cada establecimiento que las instituciones Públicas o Privadas deseen ejecutar en cuanto a campañas médicas o venta de servicios médicos de salud en general a traves de la APP y su Pasarela de Pago.</a:t>
            </a:r>
          </a:p>
          <a:p>
            <a:endParaRPr lang="it-IT" dirty="0"/>
          </a:p>
          <a:p>
            <a:r>
              <a:rPr lang="it-IT" dirty="0"/>
              <a:t>LLEGAR AL POBLADO ESTUDIANTIL DEL SECTOR SALUD CON CURSOS VIRTUALES ONLINE, PRESENCIALES O MIXTOS DE EDUCACIÓN MÉDICA CONTINUA DE INTERÉS PÚBLICO GENERAL PARA FORTALECIMIENTO DE HABILIDADES, CONOCIMIENTO CIENTIFICO Y APTITUDES AVALADOS POR EL DIRECTORIO EDUCATIVO DEL COLEGIO DE MÉDICOS DE EL ORO EN CONJUNTO CON LOS DIFERENTES Y RESPECTIVOS AVALES UNIVERSITARIOS CON LOS CUALES SE TENGA CONVENIOS EN EJECUCION.</a:t>
            </a:r>
          </a:p>
        </p:txBody>
      </p:sp>
      <p:sp>
        <p:nvSpPr>
          <p:cNvPr id="4" name="Titolo 1"/>
          <p:cNvSpPr>
            <a:spLocks noGrp="1"/>
          </p:cNvSpPr>
          <p:nvPr>
            <p:ph type="title"/>
          </p:nvPr>
        </p:nvSpPr>
        <p:spPr>
          <a:xfrm>
            <a:off x="1043608" y="260648"/>
            <a:ext cx="7772400" cy="914400"/>
          </a:xfrm>
        </p:spPr>
        <p:txBody>
          <a:bodyPr/>
          <a:lstStyle/>
          <a:p>
            <a:r>
              <a:rPr lang="it-IT" dirty="0">
                <a:solidFill>
                  <a:srgbClr val="FFFF00"/>
                </a:solidFill>
              </a:rPr>
              <a:t>           </a:t>
            </a:r>
            <a:r>
              <a:rPr lang="it-IT" sz="1800" dirty="0">
                <a:solidFill>
                  <a:srgbClr val="FFFF00"/>
                </a:solidFill>
              </a:rPr>
              <a:t>“AMED EC”</a:t>
            </a:r>
            <a:br>
              <a:rPr lang="it-IT" sz="1800" dirty="0">
                <a:solidFill>
                  <a:srgbClr val="FFFF00"/>
                </a:solidFill>
              </a:rPr>
            </a:br>
            <a:r>
              <a:rPr lang="it-IT" sz="1800" dirty="0">
                <a:solidFill>
                  <a:srgbClr val="FFFF00"/>
                </a:solidFill>
              </a:rPr>
              <a:t>                   ASISTENCIA MÉDICA ECUADOR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835696" y="332656"/>
            <a:ext cx="7772400" cy="914400"/>
          </a:xfrm>
        </p:spPr>
        <p:txBody>
          <a:bodyPr/>
          <a:lstStyle/>
          <a:p>
            <a:r>
              <a:rPr lang="it-IT" sz="1800" b="1" dirty="0">
                <a:solidFill>
                  <a:srgbClr val="FFFF00"/>
                </a:solidFill>
              </a:rPr>
              <a:t>                   “AMED EC”</a:t>
            </a:r>
            <a:br>
              <a:rPr lang="it-IT" sz="1800" b="1" dirty="0">
                <a:solidFill>
                  <a:srgbClr val="FFFF00"/>
                </a:solidFill>
              </a:rPr>
            </a:br>
            <a:r>
              <a:rPr lang="it-IT" sz="1800" b="1" dirty="0">
                <a:solidFill>
                  <a:srgbClr val="FFFF00"/>
                </a:solidFill>
              </a:rPr>
              <a:t>          ASISTENCIA MEDICA ECUADOR</a:t>
            </a:r>
          </a:p>
        </p:txBody>
      </p:sp>
      <p:sp>
        <p:nvSpPr>
          <p:cNvPr id="3" name="Segnaposto contenuto 2"/>
          <p:cNvSpPr>
            <a:spLocks noGrp="1"/>
          </p:cNvSpPr>
          <p:nvPr>
            <p:ph idx="1"/>
          </p:nvPr>
        </p:nvSpPr>
        <p:spPr>
          <a:xfrm>
            <a:off x="914400" y="1340768"/>
            <a:ext cx="7772400" cy="5517232"/>
          </a:xfrm>
        </p:spPr>
        <p:txBody>
          <a:bodyPr>
            <a:normAutofit fontScale="62500" lnSpcReduction="20000"/>
          </a:bodyPr>
          <a:lstStyle/>
          <a:p>
            <a:pPr>
              <a:buNone/>
            </a:pPr>
            <a:r>
              <a:rPr lang="it-IT" sz="2000" b="1" dirty="0">
                <a:solidFill>
                  <a:srgbClr val="FFFF00"/>
                </a:solidFill>
              </a:rPr>
              <a:t>           SOCIO UNICO DIRECTO CON REDITOS ECONOMICOS: </a:t>
            </a:r>
          </a:p>
          <a:p>
            <a:r>
              <a:rPr lang="it-IT" sz="2000" dirty="0"/>
              <a:t>COLEGIO DE MEDICOS DE EL ORO POR FINANCIAMIENTO , APOYO Y ADOPCION DEL PROYECTO Y SU EJECUCION. PARA LO CUAL OS OFREZCO EL 20% DE LAS ACCIONES A FAVOR DEL COLEGIO DE MÉDICOS DE EL ORO, 20%  DE LAS GANANCIAS DE MANERA MENSUAL O ANUAL( Ganancias sujetas a negociación )</a:t>
            </a:r>
          </a:p>
          <a:p>
            <a:pPr>
              <a:buNone/>
            </a:pPr>
            <a:endParaRPr lang="it-IT" sz="2000" dirty="0"/>
          </a:p>
          <a:p>
            <a:pPr>
              <a:buNone/>
            </a:pPr>
            <a:r>
              <a:rPr lang="it-IT" sz="2000" b="1" dirty="0">
                <a:solidFill>
                  <a:srgbClr val="FFFF00"/>
                </a:solidFill>
              </a:rPr>
              <a:t>              SOCIOS COMERCIALES DIRECTOS: </a:t>
            </a:r>
          </a:p>
          <a:p>
            <a:pPr marL="525780" indent="-457200"/>
            <a:r>
              <a:rPr lang="it-IT" sz="2000" dirty="0"/>
              <a:t>MIEMBROS  ACTIVOS DE AMED Y SUS RECURSOS O CASAS DE SALUD PARA ATENDER LAS DEMANDAS MÉDICAS DE LA POBLACIÓN PARA AQUELLOS QUE DESEEN OFERTAR SUS INSTITUCIONES DE SALUD A DISPOSICIÓN DE AMED, BENEFICIOS Y USOS DE LA APLICACIÓN TECNOLÓGICA SIN OPCIÓN A RÉDITOS ECONÓMICOS, LOS RÉDITOS ECONÓMICOS SOLO SERÁN BENEFICIO EXCLUSIVO DE SU SOCIEDAD DIRECTA EN COMÚN ENTRE LUIS ANZOÁTEGUI (AMED) Y EL COLEGIO DE MEDICOS DE EL ORO. LOS BENEFICIOS ECONOMICOS PARA NUESTROS SOCIOS COMERCIALES  DIRECTOS E INDIRECTOS SERAN LAS VENTAS SEGURAS QUE GENEREN SIENDO SOCIOS ACTIVOS DE AMED DE ACUERDO A LA MEMBRESÍA QUE  OBTENGAN DE MANERA INDIVIDUAL LA CUAL DETERMINA EL FLUJO DE PACIENTES PARA CADA SOCIO ACTIVO DE AMED.</a:t>
            </a:r>
          </a:p>
          <a:p>
            <a:pPr marL="525780" indent="-457200"/>
            <a:endParaRPr lang="it-IT" sz="2000" b="1" dirty="0"/>
          </a:p>
          <a:p>
            <a:pPr marL="525780" indent="-457200"/>
            <a:r>
              <a:rPr lang="it-IT" sz="2000" b="1" dirty="0">
                <a:solidFill>
                  <a:srgbClr val="FFFF00"/>
                </a:solidFill>
              </a:rPr>
              <a:t>SOCIOS COMERCIALES INDIRECTOS</a:t>
            </a:r>
          </a:p>
          <a:p>
            <a:pPr marL="525780" indent="-457200">
              <a:buNone/>
            </a:pPr>
            <a:r>
              <a:rPr lang="it-IT" sz="2000" dirty="0"/>
              <a:t>              FARMACIAS PARTICULARES MIEMBROS DE AMED, SPA, CENTROS DE REHABILITACION, CENTROS DE FISIOTERAPIA, CENTROS NATURISTAS, CENTROS ESTÉTICOS, LABORATORIOS CLÍNICOS , CENTROS IMAGENOLÓGICOS  PODRÁN ACCEDER A LOS BENEFICIOS Y USOS DE LA APLICACIÓN TECNOLÓGICA SIN OPCIÓN A RÉDITOS ECONÓMICOS, LOS RÉDITOS ECONÓMICOS SOLO SERÁN BENEFICIO EXCLUSIVO DE SU SOCIEDAD DIRECTA EN COMÚN ENTRE LUIS ANZOATEGUI (AMED) Y EL COLEGIO DE MÉDICOS DE EL ORO. LOS BENEFICIOS ECONÓMICOS PARA NUESTROS SOCIOS COMERCIALES SERAN LAS VENTAS SEGURAS QUE GENEREN SIENDO SOCIOS ACTIVOS DE AMED DE ACUERDO A LA MEMBRESÍA QUE  OBTENGAN DE MANERA INDIVIDUAL LA CUAL DETERMINA EL FLUJO DE PACIENTES PARA CADA SOCIO ACTIVO DE AMED.</a:t>
            </a:r>
          </a:p>
          <a:p>
            <a:pPr marL="525780" indent="-457200">
              <a:buNone/>
            </a:pPr>
            <a:endParaRPr lang="it-IT"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algn="ctr"/>
            <a:r>
              <a:rPr lang="it-IT" sz="2200" b="1" dirty="0">
                <a:solidFill>
                  <a:srgbClr val="FFFF00"/>
                </a:solidFill>
              </a:rPr>
              <a:t>PROYECCION DEL COLEGIO DE MEDICOS DE EL ORO JUNTO A AMED</a:t>
            </a:r>
          </a:p>
        </p:txBody>
      </p:sp>
      <p:sp>
        <p:nvSpPr>
          <p:cNvPr id="3" name="Segnaposto contenuto 2"/>
          <p:cNvSpPr>
            <a:spLocks noGrp="1"/>
          </p:cNvSpPr>
          <p:nvPr>
            <p:ph idx="1"/>
          </p:nvPr>
        </p:nvSpPr>
        <p:spPr>
          <a:xfrm>
            <a:off x="914400" y="1484784"/>
            <a:ext cx="7772400" cy="4870776"/>
          </a:xfrm>
        </p:spPr>
        <p:txBody>
          <a:bodyPr>
            <a:normAutofit fontScale="62500" lnSpcReduction="20000"/>
          </a:bodyPr>
          <a:lstStyle/>
          <a:p>
            <a:r>
              <a:rPr lang="it-IT" dirty="0"/>
              <a:t>Constituirse en el tiempo con ayuda de la tecnologÍa y las bondades de la Inteligencia Artificial que ofrece el Siglo XXI en una Gran Empresa FISICA Y DIGITAL de seguros medicos privados ambulatorios y hospitalizaciones clinicas de emergencias y asi gozar de un Nuevo concepto de SALUD DIGITAL con alcance Popular y con Proyección a poder replicar el proyecto o modelo de negocio en cualquier punto geográfico del pais donde se desee digitalizar los servicios medicos de Salud Publicos o Privados de Dicha Población.</a:t>
            </a:r>
          </a:p>
          <a:p>
            <a:endParaRPr lang="it-IT" dirty="0"/>
          </a:p>
          <a:p>
            <a:r>
              <a:rPr lang="it-IT" dirty="0"/>
              <a:t>Ofertar a la larga a traves de la aplicación la 1era Farmacia Médica Comunitaria Virtual del Colegio de Medicos de EL ORO con servicios de delivery dentro de la Provincia o del Cantón.</a:t>
            </a:r>
          </a:p>
          <a:p>
            <a:endParaRPr lang="it-IT" dirty="0"/>
          </a:p>
          <a:p>
            <a:r>
              <a:rPr lang="it-IT" dirty="0"/>
              <a:t>Fomentar el fortalecimiento académico científico continuo a traves de la Aplicacion Medica con Espacios Academicos, Certificaciones, Diplomados, Aulas virtuales donde los interesados o postulantes puedan acceder a estudios o fortalecimientos academicos de primera avalados por el Colegio de Medicos de EL Oro y los diferentes avales universitarios del Pais en general segun firmas de convenio ejecutoriadas.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903985" y="361173"/>
            <a:ext cx="7772400" cy="914400"/>
          </a:xfrm>
        </p:spPr>
        <p:txBody>
          <a:bodyPr/>
          <a:lstStyle/>
          <a:p>
            <a:pPr algn="ctr"/>
            <a:r>
              <a:rPr lang="it-IT" sz="2200" b="1" dirty="0">
                <a:solidFill>
                  <a:srgbClr val="FFFF00"/>
                </a:solidFill>
              </a:rPr>
              <a:t>BENEFICIOS COMERCIALES DE AMED</a:t>
            </a:r>
          </a:p>
        </p:txBody>
      </p:sp>
      <p:sp>
        <p:nvSpPr>
          <p:cNvPr id="3" name="Segnaposto contenuto 2"/>
          <p:cNvSpPr>
            <a:spLocks noGrp="1"/>
          </p:cNvSpPr>
          <p:nvPr>
            <p:ph idx="1"/>
          </p:nvPr>
        </p:nvSpPr>
        <p:spPr>
          <a:xfrm>
            <a:off x="467615" y="980728"/>
            <a:ext cx="8569998" cy="6768752"/>
          </a:xfrm>
        </p:spPr>
        <p:txBody>
          <a:bodyPr>
            <a:noAutofit/>
          </a:bodyPr>
          <a:lstStyle/>
          <a:p>
            <a:pPr marL="297180" indent="-228600">
              <a:buFont typeface="+mj-lt"/>
              <a:buAutoNum type="arabicPeriod"/>
            </a:pPr>
            <a:r>
              <a:rPr lang="it-IT" sz="1200" b="1" dirty="0"/>
              <a:t>VENTA DE MEMBRESíAS MÉDICAS </a:t>
            </a:r>
            <a:r>
              <a:rPr lang="it-IT" sz="1200" dirty="0"/>
              <a:t>A MÉDICOS PARTICULARES, CLÍNICAS PARTICULARES, CENTROS DE SALUD, FARMACIAS, LABORATORIOS CLÍNICOS, CENTROS IMAGENOLOGICOS ETC</a:t>
            </a:r>
          </a:p>
          <a:p>
            <a:pPr>
              <a:buFont typeface="+mj-lt"/>
              <a:buAutoNum type="arabicPeriod"/>
            </a:pPr>
            <a:endParaRPr lang="it-IT" sz="1200" dirty="0"/>
          </a:p>
          <a:p>
            <a:pPr marL="297180" indent="-228600">
              <a:buFont typeface="+mj-lt"/>
              <a:buAutoNum type="arabicPeriod"/>
            </a:pPr>
            <a:r>
              <a:rPr lang="it-IT" sz="1200" b="1" dirty="0"/>
              <a:t>VENTA DE SERVICIOS MÉDICOS ONLINE 24/7</a:t>
            </a:r>
            <a:r>
              <a:rPr lang="it-IT" sz="1200" dirty="0"/>
              <a:t> A TRAVES DE LA APP.</a:t>
            </a:r>
          </a:p>
          <a:p>
            <a:pPr>
              <a:buFont typeface="+mj-lt"/>
              <a:buAutoNum type="arabicPeriod"/>
            </a:pPr>
            <a:endParaRPr lang="it-IT" sz="1200" dirty="0"/>
          </a:p>
          <a:p>
            <a:pPr marL="297180" indent="-228600">
              <a:buFont typeface="+mj-lt"/>
              <a:buAutoNum type="arabicPeriod"/>
            </a:pPr>
            <a:r>
              <a:rPr lang="it-IT" sz="1200" b="1" dirty="0"/>
              <a:t>VENTA  DE COMBOS MÉDICOS DIARIOS O SERVICIOS MÉDICOS DE SALUD EN ACTIVACIONES O PUNTOS DE VENTA CON  STANDS Y SUS RESPECTIVOS BANNERS DE LA MARCA EN EL PARQUE CENTRAL, TERMINAL TERRESTRE O SHOPING MACHALA, IMPULSADORAS CON CHALECOS DE AMED Y SUS CELULARES ADQUIRIENDO CLIENTES  VENDIENDO COMBOS MEDICOS DIARIAMENTE AL POR MAYOR.</a:t>
            </a:r>
          </a:p>
          <a:p>
            <a:pPr>
              <a:buFont typeface="+mj-lt"/>
              <a:buAutoNum type="arabicPeriod"/>
            </a:pPr>
            <a:endParaRPr lang="it-IT" sz="1200" dirty="0"/>
          </a:p>
          <a:p>
            <a:pPr marL="297180" indent="-228600">
              <a:buFont typeface="+mj-lt"/>
              <a:buAutoNum type="arabicPeriod"/>
            </a:pPr>
            <a:r>
              <a:rPr lang="it-IT" sz="1200" b="1" dirty="0"/>
              <a:t>VENTA DE COMBOS MÉDICOS AMBULATORIOS MENSUALES A EMPRESAS PÚBLICAS O PRIVADAS </a:t>
            </a:r>
            <a:r>
              <a:rPr lang="it-IT" sz="1200" dirty="0"/>
              <a:t>(EJM: EMPRESA DE 20, 30 100 OBREROS O UNA COOPERATIVA DE TAXIS O DE AHORRO Y SUS CUENTA AHORRISTAS EN GENERAL.(8 DOLARES POR 2500 CUENTA AHORRISTAS Y OBTENCION DE COMBOS MEDICOS AMBULATORIOS DE MANERA MENSUAL CON MANEJO DE CONTRATOS COMERCIALES ANUALES ENTRE AMED Y EMPRESAS PUBLICAS O PRIVADAS A CAMBIO DE LOS USOS Y BENEFICIOS DE LA HERRAMIENTA TECNOLÓGICA AMED COMO APLICATIVO DE SERVICIOS Y COMO UN MECANISMO DE RESPUESTA INMEDIATA A EMERGENCIAS MEDICAS CASERAS QUE PUEDEN RESOLVERSE A UN CLICK DE SU CELULAR DE BOLSILLO. </a:t>
            </a:r>
          </a:p>
        </p:txBody>
      </p:sp>
      <p:pic>
        <p:nvPicPr>
          <p:cNvPr id="5122" name="Picture 2" descr="📚 ¿Qué son las ganancias retenidas? » Glosario []">
            <a:extLst>
              <a:ext uri="{FF2B5EF4-FFF2-40B4-BE49-F238E27FC236}">
                <a16:creationId xmlns:a16="http://schemas.microsoft.com/office/drawing/2014/main" id="{2E31C2C2-BDA9-4F3B-A360-EA325CC5D15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27784" y="5037606"/>
            <a:ext cx="3384376" cy="16317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5FF71B-3AA2-4DC5-97C2-04257DAF3665}"/>
              </a:ext>
            </a:extLst>
          </p:cNvPr>
          <p:cNvSpPr>
            <a:spLocks noGrp="1"/>
          </p:cNvSpPr>
          <p:nvPr>
            <p:ph type="title"/>
          </p:nvPr>
        </p:nvSpPr>
        <p:spPr>
          <a:xfrm>
            <a:off x="2339752" y="498376"/>
            <a:ext cx="7772400" cy="914400"/>
          </a:xfrm>
        </p:spPr>
        <p:txBody>
          <a:bodyPr/>
          <a:lstStyle/>
          <a:p>
            <a:r>
              <a:rPr lang="es-ES" sz="2000" b="1" dirty="0">
                <a:solidFill>
                  <a:srgbClr val="FFFF00"/>
                </a:solidFill>
              </a:rPr>
              <a:t>BENEFICIOS COMERCIALES DE AMED</a:t>
            </a:r>
          </a:p>
        </p:txBody>
      </p:sp>
      <p:sp>
        <p:nvSpPr>
          <p:cNvPr id="3" name="Marcador de contenido 2">
            <a:extLst>
              <a:ext uri="{FF2B5EF4-FFF2-40B4-BE49-F238E27FC236}">
                <a16:creationId xmlns:a16="http://schemas.microsoft.com/office/drawing/2014/main" id="{ED500297-AD35-49E2-8CE9-550F1114272E}"/>
              </a:ext>
            </a:extLst>
          </p:cNvPr>
          <p:cNvSpPr>
            <a:spLocks noGrp="1"/>
          </p:cNvSpPr>
          <p:nvPr>
            <p:ph idx="1"/>
          </p:nvPr>
        </p:nvSpPr>
        <p:spPr>
          <a:xfrm>
            <a:off x="914400" y="1052736"/>
            <a:ext cx="4233664" cy="5688632"/>
          </a:xfrm>
        </p:spPr>
        <p:txBody>
          <a:bodyPr>
            <a:normAutofit fontScale="40000" lnSpcReduction="20000"/>
          </a:bodyPr>
          <a:lstStyle/>
          <a:p>
            <a:pPr marL="582930" indent="-514350">
              <a:buFont typeface="+mj-lt"/>
              <a:buAutoNum type="arabicPeriod"/>
            </a:pPr>
            <a:r>
              <a:rPr lang="es-ES" dirty="0"/>
              <a:t>CREAR UNA TARJETA FISICA CON OPCION A DESCUENTOS Y ACUMULACION DE PUNTOS PARA OBTENCION DE REGALIAS EN PRODUCTOS O SERVICIOS MEDICOS Y SUS RESPECTIVOS CANJES.</a:t>
            </a:r>
          </a:p>
          <a:p>
            <a:pPr marL="582930" indent="-514350">
              <a:buFont typeface="+mj-lt"/>
              <a:buAutoNum type="arabicPeriod"/>
            </a:pPr>
            <a:endParaRPr lang="es-ES" dirty="0"/>
          </a:p>
          <a:p>
            <a:pPr marL="582930" indent="-514350">
              <a:buFont typeface="+mj-lt"/>
              <a:buAutoNum type="arabicPeriod"/>
            </a:pPr>
            <a:r>
              <a:rPr lang="es-ES" dirty="0"/>
              <a:t>RÉDITOS ECONOMICOS POR CADA VENTA ONLINE EJECUTADA. (SISTEMA DE TRANSFERENCIA Y PAGOS ENTRE AMED Y SUS SOCIOS MIEMBROS ACTIVOS.</a:t>
            </a:r>
          </a:p>
          <a:p>
            <a:pPr marL="582930" indent="-514350">
              <a:buFont typeface="+mj-lt"/>
              <a:buAutoNum type="arabicPeriod"/>
            </a:pPr>
            <a:endParaRPr lang="es-ES" dirty="0"/>
          </a:p>
          <a:p>
            <a:pPr marL="582930" indent="-514350">
              <a:buFont typeface="+mj-lt"/>
              <a:buAutoNum type="arabicPeriod"/>
            </a:pPr>
            <a:r>
              <a:rPr lang="es-ES" dirty="0"/>
              <a:t>ESTABLECIMIENTO DE ALIANZAS COMERCIALES POR AUSPICIO CON DESCUENTOS IMPORTANTES EN CASAS COMERCIALES, CENTROS ESTETICOS, CASAS DEPORTIVAS, GIMNASIOS, ENTRE OTROS.</a:t>
            </a:r>
          </a:p>
          <a:p>
            <a:pPr marL="582930" indent="-514350">
              <a:buFont typeface="+mj-lt"/>
              <a:buAutoNum type="arabicPeriod"/>
            </a:pPr>
            <a:endParaRPr lang="es-ES" dirty="0"/>
          </a:p>
          <a:p>
            <a:pPr marL="582930" indent="-514350">
              <a:buFont typeface="+mj-lt"/>
              <a:buAutoNum type="arabicPeriod"/>
            </a:pPr>
            <a:r>
              <a:rPr lang="es-ES" dirty="0"/>
              <a:t>SISTEMA INTELIGENTE DE CONSULTAS MEDICAS A DOMICILIO 24/7 (PROYECTO PARA MEDICOS GENERALES MEMBRESIAS A 100 DOLARES– ATENCION PRIMARIA EN SALUD CON ASISTENCIA MEDICA A DOMICILIO 24/7 ENTRE LOS SOCIOS MIEMBROS ACTIVOS DE AMED CUBRIENDO TODAS LAS EMERGENCIAS MEDICAS O ATENCIONES MEDICAS DOMICILIARIAS QUE SE PRESENTEN.</a:t>
            </a:r>
          </a:p>
          <a:p>
            <a:pPr marL="582930" indent="-514350">
              <a:buFont typeface="+mj-lt"/>
              <a:buAutoNum type="arabicPeriod"/>
            </a:pPr>
            <a:endParaRPr lang="es-ES" dirty="0"/>
          </a:p>
          <a:p>
            <a:pPr marL="582930" indent="-514350">
              <a:buFont typeface="+mj-lt"/>
              <a:buAutoNum type="arabicPeriod"/>
            </a:pPr>
            <a:r>
              <a:rPr lang="es-ES" dirty="0"/>
              <a:t>VARIEDAD Y COBERTURA MÉDICA GENERAL DE MÉDICOS ESPECIALISTAS QUE ESTEN DISPUESTOS A ASISTIR A PACIENTES QUE SOLICITEN MEDICOS ESPECIALISTAS A DOMICILIO A TRAVES DE LA APP AMED EC (OPCIONAL, NO OBLIGATORIO)</a:t>
            </a:r>
          </a:p>
          <a:p>
            <a:pPr marL="582930" indent="-514350">
              <a:buFont typeface="+mj-lt"/>
              <a:buAutoNum type="arabicPeriod"/>
            </a:pPr>
            <a:endParaRPr lang="es-ES" dirty="0"/>
          </a:p>
          <a:p>
            <a:endParaRPr lang="es-ES" dirty="0"/>
          </a:p>
        </p:txBody>
      </p:sp>
      <p:pic>
        <p:nvPicPr>
          <p:cNvPr id="6146" name="Picture 2" descr="Transacciones Comerciales - DiarioRepublica.com">
            <a:extLst>
              <a:ext uri="{FF2B5EF4-FFF2-40B4-BE49-F238E27FC236}">
                <a16:creationId xmlns:a16="http://schemas.microsoft.com/office/drawing/2014/main" id="{E872BA8D-8945-4A12-85CB-FF6144BE60C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0112" y="1052736"/>
            <a:ext cx="2736304" cy="201652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6FC83308-18C7-44ED-8451-7D7FA5F06DD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43868" y="4000779"/>
            <a:ext cx="2772548" cy="1532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2555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899592" y="332656"/>
            <a:ext cx="7772400" cy="914400"/>
          </a:xfrm>
        </p:spPr>
        <p:txBody>
          <a:bodyPr/>
          <a:lstStyle/>
          <a:p>
            <a:pPr algn="ctr"/>
            <a:r>
              <a:rPr lang="it-IT" sz="2800" b="1" dirty="0">
                <a:solidFill>
                  <a:srgbClr val="FFFF00"/>
                </a:solidFill>
              </a:rPr>
              <a:t>REQUERIMIENTOS de AMED para su </a:t>
            </a:r>
            <a:r>
              <a:rPr lang="it-IT" sz="2800" b="1" dirty="0" err="1">
                <a:solidFill>
                  <a:srgbClr val="FFFF00"/>
                </a:solidFill>
              </a:rPr>
              <a:t>Funcionamiento</a:t>
            </a:r>
            <a:r>
              <a:rPr lang="it-IT" sz="2800" b="1" dirty="0">
                <a:solidFill>
                  <a:srgbClr val="FFFF00"/>
                </a:solidFill>
              </a:rPr>
              <a:t> al Publico</a:t>
            </a:r>
          </a:p>
        </p:txBody>
      </p:sp>
      <p:sp>
        <p:nvSpPr>
          <p:cNvPr id="3" name="Segnaposto contenuto 2"/>
          <p:cNvSpPr>
            <a:spLocks noGrp="1"/>
          </p:cNvSpPr>
          <p:nvPr>
            <p:ph idx="1"/>
          </p:nvPr>
        </p:nvSpPr>
        <p:spPr/>
        <p:txBody>
          <a:bodyPr>
            <a:normAutofit fontScale="62500" lnSpcReduction="20000"/>
          </a:bodyPr>
          <a:lstStyle/>
          <a:p>
            <a:r>
              <a:rPr lang="it-IT" dirty="0">
                <a:solidFill>
                  <a:srgbClr val="FFFF00"/>
                </a:solidFill>
              </a:rPr>
              <a:t>REACTIVACION DE AMED </a:t>
            </a:r>
            <a:r>
              <a:rPr lang="it-IT" dirty="0"/>
              <a:t>3800 DOLARES (Pago de licencias virtuales, Actualizaciones, credenciales de seguridad y servidores vencidos hace 3años. Con el pago AMED queda Operativa en 1 mes)</a:t>
            </a:r>
          </a:p>
          <a:p>
            <a:endParaRPr lang="it-IT" dirty="0"/>
          </a:p>
          <a:p>
            <a:r>
              <a:rPr lang="it-IT" dirty="0">
                <a:solidFill>
                  <a:srgbClr val="FFFF00"/>
                </a:solidFill>
              </a:rPr>
              <a:t>Pago del Registro de la MARCA o la empresa en la SUPERINTENDENCIA DE COMPANIAS </a:t>
            </a:r>
            <a:r>
              <a:rPr lang="it-IT" dirty="0"/>
              <a:t>para ofertar AMED corporativamente de manera legal a empresas públicas o privadas.</a:t>
            </a:r>
          </a:p>
          <a:p>
            <a:endParaRPr lang="it-IT" dirty="0"/>
          </a:p>
          <a:p>
            <a:r>
              <a:rPr lang="it-IT" dirty="0">
                <a:solidFill>
                  <a:srgbClr val="FFFF00"/>
                </a:solidFill>
              </a:rPr>
              <a:t>Pago del Registro de la MARCA en el IEPI (Instituto Ecuatoriano de Propiedad Intelectual) </a:t>
            </a:r>
            <a:r>
              <a:rPr lang="it-IT" dirty="0"/>
              <a:t>para evitar replicas piratas o robo de la Marca, Nombre e Identidad Digital.</a:t>
            </a:r>
          </a:p>
          <a:p>
            <a:endParaRPr lang="it-IT" dirty="0"/>
          </a:p>
          <a:p>
            <a:r>
              <a:rPr lang="it-IT" b="1" dirty="0"/>
              <a:t>Adopcion, Sociedad, Financiamiento, Apoyo y Representatividad del Proyecto </a:t>
            </a:r>
            <a:r>
              <a:rPr lang="it-IT" dirty="0"/>
              <a:t>para su ejecucion en la Provincia como </a:t>
            </a:r>
            <a:r>
              <a:rPr lang="it-IT" b="1" dirty="0"/>
              <a:t>PLAN PILOTO DE DIGITALIZAR LA SALUD DE LA POBLACION ORENSE y ECUATORIANA </a:t>
            </a:r>
            <a:r>
              <a:rPr lang="it-IT" dirty="0"/>
              <a:t>con capital para su Talento Humano quien hará posible que AMED sea una realidad.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  </a:t>
            </a:r>
            <a:r>
              <a:rPr lang="it-IT" b="1" dirty="0">
                <a:solidFill>
                  <a:srgbClr val="FFFF00"/>
                </a:solidFill>
              </a:rPr>
              <a:t>TALENTO HUMANO DE AMED</a:t>
            </a:r>
          </a:p>
        </p:txBody>
      </p:sp>
      <p:sp>
        <p:nvSpPr>
          <p:cNvPr id="3" name="Segnaposto contenuto 2"/>
          <p:cNvSpPr>
            <a:spLocks noGrp="1"/>
          </p:cNvSpPr>
          <p:nvPr>
            <p:ph idx="1"/>
          </p:nvPr>
        </p:nvSpPr>
        <p:spPr>
          <a:xfrm>
            <a:off x="914400" y="1628800"/>
            <a:ext cx="3657600" cy="4371950"/>
          </a:xfrm>
        </p:spPr>
        <p:txBody>
          <a:bodyPr>
            <a:normAutofit fontScale="70000" lnSpcReduction="20000"/>
          </a:bodyPr>
          <a:lstStyle/>
          <a:p>
            <a:r>
              <a:rPr lang="it-IT" dirty="0"/>
              <a:t>1 RELACIONISTA PÚBLICA</a:t>
            </a:r>
          </a:p>
          <a:p>
            <a:endParaRPr lang="it-IT" dirty="0"/>
          </a:p>
          <a:p>
            <a:r>
              <a:rPr lang="it-IT" dirty="0"/>
              <a:t>2 VISITADORA MEDICAS </a:t>
            </a:r>
            <a:r>
              <a:rPr lang="it-IT" sz="1800" dirty="0"/>
              <a:t>(SUELDOS PART TIME MAS COMISIONES)</a:t>
            </a:r>
          </a:p>
          <a:p>
            <a:endParaRPr lang="it-IT" dirty="0"/>
          </a:p>
          <a:p>
            <a:r>
              <a:rPr lang="it-IT" dirty="0"/>
              <a:t>2 impulsadoras </a:t>
            </a:r>
            <a:r>
              <a:rPr lang="it-IT" sz="1600" dirty="0"/>
              <a:t>(SUELDOS PART  TIME MAS COMISIONES)</a:t>
            </a:r>
          </a:p>
          <a:p>
            <a:endParaRPr lang="it-IT" dirty="0"/>
          </a:p>
          <a:p>
            <a:r>
              <a:rPr lang="it-IT" dirty="0"/>
              <a:t>1 contador (Sueldo segun oficio)</a:t>
            </a:r>
          </a:p>
          <a:p>
            <a:endParaRPr lang="it-IT" dirty="0"/>
          </a:p>
          <a:p>
            <a:r>
              <a:rPr lang="it-IT" dirty="0"/>
              <a:t>1 Talento Humano Call Center 24hrs </a:t>
            </a:r>
          </a:p>
        </p:txBody>
      </p:sp>
      <p:pic>
        <p:nvPicPr>
          <p:cNvPr id="6146" name="Picture 2" descr="Cómo mejorar la Gestión del Talento Humano? - Escuela Europea de Gerencia">
            <a:extLst>
              <a:ext uri="{FF2B5EF4-FFF2-40B4-BE49-F238E27FC236}">
                <a16:creationId xmlns:a16="http://schemas.microsoft.com/office/drawing/2014/main" id="{C3E698D8-A1BE-4470-B97C-E2A0A8BC6CA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31166" y="2348880"/>
            <a:ext cx="3754760" cy="26932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02477C-67E6-4F47-B565-B5695215F550}"/>
              </a:ext>
            </a:extLst>
          </p:cNvPr>
          <p:cNvSpPr>
            <a:spLocks noGrp="1"/>
          </p:cNvSpPr>
          <p:nvPr>
            <p:ph type="title"/>
          </p:nvPr>
        </p:nvSpPr>
        <p:spPr/>
        <p:txBody>
          <a:bodyPr/>
          <a:lstStyle/>
          <a:p>
            <a:pPr algn="ctr"/>
            <a:r>
              <a:rPr lang="es-ES" dirty="0"/>
              <a:t>GRACIAS POR SU ATENCIÓN</a:t>
            </a:r>
          </a:p>
        </p:txBody>
      </p:sp>
      <p:pic>
        <p:nvPicPr>
          <p:cNvPr id="5122" name="Picture 2" descr="Curso de capacitación de ventas digitales. ">
            <a:extLst>
              <a:ext uri="{FF2B5EF4-FFF2-40B4-BE49-F238E27FC236}">
                <a16:creationId xmlns:a16="http://schemas.microsoft.com/office/drawing/2014/main" id="{933AC7B3-EDC3-41D8-95CF-F81B052FFA11}"/>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97041" y="1795885"/>
            <a:ext cx="3469332" cy="235128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La venta digital: la mejor aliada de tu fuerza de ventas">
            <a:extLst>
              <a:ext uri="{FF2B5EF4-FFF2-40B4-BE49-F238E27FC236}">
                <a16:creationId xmlns:a16="http://schemas.microsoft.com/office/drawing/2014/main" id="{999EFBDF-2BA0-4C27-8876-67BC69804FC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77628" y="1997070"/>
            <a:ext cx="3464742" cy="1948917"/>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QUÉ ES LA VENTA DIGITAL? - Innovando Digital">
            <a:extLst>
              <a:ext uri="{FF2B5EF4-FFF2-40B4-BE49-F238E27FC236}">
                <a16:creationId xmlns:a16="http://schemas.microsoft.com/office/drawing/2014/main" id="{19BF66FF-CE34-4FFF-A42E-24E16AC5C12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31640" y="4569233"/>
            <a:ext cx="2699792" cy="2024844"/>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Digital selling: estrategia global de venta digital - WOM Group">
            <a:extLst>
              <a:ext uri="{FF2B5EF4-FFF2-40B4-BE49-F238E27FC236}">
                <a16:creationId xmlns:a16="http://schemas.microsoft.com/office/drawing/2014/main" id="{710F41CB-F2D0-4438-89FD-F3644C11BE3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22304" y="4795842"/>
            <a:ext cx="3143250" cy="1571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02587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B5D49C-4271-8202-8AFA-81E076FDB498}"/>
              </a:ext>
            </a:extLst>
          </p:cNvPr>
          <p:cNvSpPr>
            <a:spLocks noGrp="1"/>
          </p:cNvSpPr>
          <p:nvPr>
            <p:ph type="title"/>
          </p:nvPr>
        </p:nvSpPr>
        <p:spPr>
          <a:xfrm>
            <a:off x="1371600" y="620688"/>
            <a:ext cx="7772400" cy="914400"/>
          </a:xfrm>
        </p:spPr>
        <p:txBody>
          <a:bodyPr/>
          <a:lstStyle/>
          <a:p>
            <a:r>
              <a:rPr lang="es-EC" sz="2000" dirty="0"/>
              <a:t>BONDADES DEL PROYECTO + ANALISIS FINANCIERO </a:t>
            </a:r>
            <a:br>
              <a:rPr lang="es-EC" sz="2000" dirty="0"/>
            </a:br>
            <a:r>
              <a:rPr lang="es-EC" sz="2000" dirty="0"/>
              <a:t>          INVERSIÓN VS RENTABILIDAD</a:t>
            </a:r>
          </a:p>
        </p:txBody>
      </p:sp>
      <p:sp>
        <p:nvSpPr>
          <p:cNvPr id="4" name="Marcador de texto 3">
            <a:extLst>
              <a:ext uri="{FF2B5EF4-FFF2-40B4-BE49-F238E27FC236}">
                <a16:creationId xmlns:a16="http://schemas.microsoft.com/office/drawing/2014/main" id="{C644C5B7-709D-C7BF-7706-63BDCA23D63B}"/>
              </a:ext>
            </a:extLst>
          </p:cNvPr>
          <p:cNvSpPr>
            <a:spLocks noGrp="1"/>
          </p:cNvSpPr>
          <p:nvPr>
            <p:ph type="body" idx="1"/>
          </p:nvPr>
        </p:nvSpPr>
        <p:spPr/>
        <p:txBody>
          <a:bodyPr/>
          <a:lstStyle/>
          <a:p>
            <a:endParaRPr lang="es-EC"/>
          </a:p>
        </p:txBody>
      </p:sp>
      <p:sp>
        <p:nvSpPr>
          <p:cNvPr id="6" name="Marcador de texto 5">
            <a:extLst>
              <a:ext uri="{FF2B5EF4-FFF2-40B4-BE49-F238E27FC236}">
                <a16:creationId xmlns:a16="http://schemas.microsoft.com/office/drawing/2014/main" id="{7F653944-01DD-0198-56F5-2300CCAFF6B6}"/>
              </a:ext>
            </a:extLst>
          </p:cNvPr>
          <p:cNvSpPr>
            <a:spLocks noGrp="1"/>
          </p:cNvSpPr>
          <p:nvPr>
            <p:ph type="body" sz="half" idx="3"/>
          </p:nvPr>
        </p:nvSpPr>
        <p:spPr/>
        <p:txBody>
          <a:bodyPr/>
          <a:lstStyle/>
          <a:p>
            <a:endParaRPr lang="es-EC"/>
          </a:p>
        </p:txBody>
      </p:sp>
      <p:pic>
        <p:nvPicPr>
          <p:cNvPr id="9" name="Marcador de contenido 8">
            <a:extLst>
              <a:ext uri="{FF2B5EF4-FFF2-40B4-BE49-F238E27FC236}">
                <a16:creationId xmlns:a16="http://schemas.microsoft.com/office/drawing/2014/main" id="{75AE9C9B-1363-C76E-38EA-D2B116533023}"/>
              </a:ext>
            </a:extLst>
          </p:cNvPr>
          <p:cNvPicPr>
            <a:picLocks noGrp="1" noChangeAspect="1"/>
          </p:cNvPicPr>
          <p:nvPr>
            <p:ph sz="quarter" idx="2"/>
          </p:nvPr>
        </p:nvPicPr>
        <p:blipFill>
          <a:blip r:embed="rId2">
            <a:extLst>
              <a:ext uri="{28A0092B-C50C-407E-A947-70E740481C1C}">
                <a14:useLocalDpi xmlns:a14="http://schemas.microsoft.com/office/drawing/2010/main" val="0"/>
              </a:ext>
            </a:extLst>
          </a:blip>
          <a:stretch>
            <a:fillRect/>
          </a:stretch>
        </p:blipFill>
        <p:spPr>
          <a:xfrm>
            <a:off x="750404" y="1535088"/>
            <a:ext cx="3453780" cy="4883175"/>
          </a:xfrm>
        </p:spPr>
      </p:pic>
      <p:pic>
        <p:nvPicPr>
          <p:cNvPr id="11" name="Marcador de contenido 10">
            <a:extLst>
              <a:ext uri="{FF2B5EF4-FFF2-40B4-BE49-F238E27FC236}">
                <a16:creationId xmlns:a16="http://schemas.microsoft.com/office/drawing/2014/main" id="{F8356F3B-311D-40C5-5811-E022F57FAC6D}"/>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078661" y="1570954"/>
            <a:ext cx="3453780" cy="4847310"/>
          </a:xfrm>
        </p:spPr>
      </p:pic>
    </p:spTree>
    <p:extLst>
      <p:ext uri="{BB962C8B-B14F-4D97-AF65-F5344CB8AC3E}">
        <p14:creationId xmlns:p14="http://schemas.microsoft.com/office/powerpoint/2010/main" val="2874353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66A6C0-226A-0D06-E179-EE54C66565E8}"/>
              </a:ext>
            </a:extLst>
          </p:cNvPr>
          <p:cNvSpPr>
            <a:spLocks noGrp="1"/>
          </p:cNvSpPr>
          <p:nvPr>
            <p:ph type="title"/>
          </p:nvPr>
        </p:nvSpPr>
        <p:spPr>
          <a:xfrm>
            <a:off x="1547664" y="620688"/>
            <a:ext cx="7772400" cy="914400"/>
          </a:xfrm>
        </p:spPr>
        <p:txBody>
          <a:bodyPr/>
          <a:lstStyle/>
          <a:p>
            <a:r>
              <a:rPr lang="es-EC" sz="1800" dirty="0"/>
              <a:t>BONDADES DEL PROYECTO MAS ANALISIS FINANCIERO </a:t>
            </a:r>
            <a:br>
              <a:rPr lang="es-EC" sz="1800" dirty="0"/>
            </a:br>
            <a:r>
              <a:rPr lang="es-EC" sz="1800" dirty="0"/>
              <a:t>          INVERSIÓN VS RENTABILIDAD</a:t>
            </a:r>
          </a:p>
        </p:txBody>
      </p:sp>
      <p:sp>
        <p:nvSpPr>
          <p:cNvPr id="3" name="Marcador de texto 2">
            <a:extLst>
              <a:ext uri="{FF2B5EF4-FFF2-40B4-BE49-F238E27FC236}">
                <a16:creationId xmlns:a16="http://schemas.microsoft.com/office/drawing/2014/main" id="{199A9CCF-50AC-7C10-7BDA-F3F0A5DB053F}"/>
              </a:ext>
            </a:extLst>
          </p:cNvPr>
          <p:cNvSpPr>
            <a:spLocks noGrp="1"/>
          </p:cNvSpPr>
          <p:nvPr>
            <p:ph type="body" idx="1"/>
          </p:nvPr>
        </p:nvSpPr>
        <p:spPr/>
        <p:txBody>
          <a:bodyPr/>
          <a:lstStyle/>
          <a:p>
            <a:endParaRPr lang="es-EC"/>
          </a:p>
        </p:txBody>
      </p:sp>
      <p:sp>
        <p:nvSpPr>
          <p:cNvPr id="4" name="Marcador de texto 3">
            <a:extLst>
              <a:ext uri="{FF2B5EF4-FFF2-40B4-BE49-F238E27FC236}">
                <a16:creationId xmlns:a16="http://schemas.microsoft.com/office/drawing/2014/main" id="{C845FAB2-6D8D-D619-0A15-89AF32C6430F}"/>
              </a:ext>
            </a:extLst>
          </p:cNvPr>
          <p:cNvSpPr>
            <a:spLocks noGrp="1"/>
          </p:cNvSpPr>
          <p:nvPr>
            <p:ph type="body" sz="half" idx="3"/>
          </p:nvPr>
        </p:nvSpPr>
        <p:spPr/>
        <p:txBody>
          <a:bodyPr/>
          <a:lstStyle/>
          <a:p>
            <a:endParaRPr lang="es-EC"/>
          </a:p>
        </p:txBody>
      </p:sp>
      <p:pic>
        <p:nvPicPr>
          <p:cNvPr id="8" name="Marcador de contenido 7">
            <a:extLst>
              <a:ext uri="{FF2B5EF4-FFF2-40B4-BE49-F238E27FC236}">
                <a16:creationId xmlns:a16="http://schemas.microsoft.com/office/drawing/2014/main" id="{E69A9873-3DC8-E4AA-0E05-7E42F719EA4A}"/>
              </a:ext>
            </a:extLst>
          </p:cNvPr>
          <p:cNvPicPr>
            <a:picLocks noGrp="1" noChangeAspect="1"/>
          </p:cNvPicPr>
          <p:nvPr>
            <p:ph sz="quarter" idx="2"/>
          </p:nvPr>
        </p:nvPicPr>
        <p:blipFill>
          <a:blip r:embed="rId2">
            <a:extLst>
              <a:ext uri="{28A0092B-C50C-407E-A947-70E740481C1C}">
                <a14:useLocalDpi xmlns:a14="http://schemas.microsoft.com/office/drawing/2010/main" val="0"/>
              </a:ext>
            </a:extLst>
          </a:blip>
          <a:stretch>
            <a:fillRect/>
          </a:stretch>
        </p:blipFill>
        <p:spPr>
          <a:xfrm>
            <a:off x="671922" y="1497828"/>
            <a:ext cx="3610744" cy="4911077"/>
          </a:xfrm>
        </p:spPr>
      </p:pic>
      <p:pic>
        <p:nvPicPr>
          <p:cNvPr id="10" name="Marcador de contenido 9">
            <a:extLst>
              <a:ext uri="{FF2B5EF4-FFF2-40B4-BE49-F238E27FC236}">
                <a16:creationId xmlns:a16="http://schemas.microsoft.com/office/drawing/2014/main" id="{E3B72228-0996-D9AC-370F-3D6DD3D82389}"/>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076057" y="1507186"/>
            <a:ext cx="3610744" cy="4911077"/>
          </a:xfrm>
        </p:spPr>
      </p:pic>
    </p:spTree>
    <p:extLst>
      <p:ext uri="{BB962C8B-B14F-4D97-AF65-F5344CB8AC3E}">
        <p14:creationId xmlns:p14="http://schemas.microsoft.com/office/powerpoint/2010/main" val="3422617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EA26D6-9E5D-35F3-87FB-5301343CA874}"/>
              </a:ext>
            </a:extLst>
          </p:cNvPr>
          <p:cNvSpPr>
            <a:spLocks noGrp="1"/>
          </p:cNvSpPr>
          <p:nvPr>
            <p:ph type="title"/>
          </p:nvPr>
        </p:nvSpPr>
        <p:spPr>
          <a:xfrm>
            <a:off x="1347517" y="548680"/>
            <a:ext cx="7772400" cy="914400"/>
          </a:xfrm>
        </p:spPr>
        <p:txBody>
          <a:bodyPr/>
          <a:lstStyle/>
          <a:p>
            <a:r>
              <a:rPr lang="es-EC" sz="2000" dirty="0"/>
              <a:t>BONDADES DEL PROYECTO MAS ANALISIS FINANCIERO </a:t>
            </a:r>
            <a:br>
              <a:rPr lang="es-EC" sz="2000" dirty="0"/>
            </a:br>
            <a:r>
              <a:rPr lang="es-EC" sz="2000" dirty="0"/>
              <a:t>          INVERSIÓN VS RENTABILIDAD</a:t>
            </a:r>
          </a:p>
        </p:txBody>
      </p:sp>
      <p:sp>
        <p:nvSpPr>
          <p:cNvPr id="3" name="Marcador de texto 2">
            <a:extLst>
              <a:ext uri="{FF2B5EF4-FFF2-40B4-BE49-F238E27FC236}">
                <a16:creationId xmlns:a16="http://schemas.microsoft.com/office/drawing/2014/main" id="{488D11F3-DEAE-17EF-7B32-6A7222739587}"/>
              </a:ext>
            </a:extLst>
          </p:cNvPr>
          <p:cNvSpPr>
            <a:spLocks noGrp="1"/>
          </p:cNvSpPr>
          <p:nvPr>
            <p:ph type="body" idx="1"/>
          </p:nvPr>
        </p:nvSpPr>
        <p:spPr/>
        <p:txBody>
          <a:bodyPr/>
          <a:lstStyle/>
          <a:p>
            <a:endParaRPr lang="es-EC" dirty="0"/>
          </a:p>
        </p:txBody>
      </p:sp>
      <p:sp>
        <p:nvSpPr>
          <p:cNvPr id="4" name="Marcador de texto 3">
            <a:extLst>
              <a:ext uri="{FF2B5EF4-FFF2-40B4-BE49-F238E27FC236}">
                <a16:creationId xmlns:a16="http://schemas.microsoft.com/office/drawing/2014/main" id="{7C726B1E-3299-A01A-059F-B7CB1B5FD920}"/>
              </a:ext>
            </a:extLst>
          </p:cNvPr>
          <p:cNvSpPr>
            <a:spLocks noGrp="1"/>
          </p:cNvSpPr>
          <p:nvPr>
            <p:ph type="body" sz="half" idx="3"/>
          </p:nvPr>
        </p:nvSpPr>
        <p:spPr/>
        <p:txBody>
          <a:bodyPr/>
          <a:lstStyle/>
          <a:p>
            <a:endParaRPr lang="es-EC"/>
          </a:p>
        </p:txBody>
      </p:sp>
      <p:pic>
        <p:nvPicPr>
          <p:cNvPr id="14" name="Marcador de contenido 13">
            <a:extLst>
              <a:ext uri="{FF2B5EF4-FFF2-40B4-BE49-F238E27FC236}">
                <a16:creationId xmlns:a16="http://schemas.microsoft.com/office/drawing/2014/main" id="{36F8B853-8444-454D-DCBA-531F0884FD9F}"/>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4860033" y="1730972"/>
            <a:ext cx="3600400" cy="4687292"/>
          </a:xfrm>
        </p:spPr>
      </p:pic>
      <p:pic>
        <p:nvPicPr>
          <p:cNvPr id="12" name="Marcador de contenido 11">
            <a:extLst>
              <a:ext uri="{FF2B5EF4-FFF2-40B4-BE49-F238E27FC236}">
                <a16:creationId xmlns:a16="http://schemas.microsoft.com/office/drawing/2014/main" id="{728C6B62-EAC4-2DC4-1122-84234C61CCEE}"/>
              </a:ext>
            </a:extLst>
          </p:cNvPr>
          <p:cNvPicPr>
            <a:picLocks noGrp="1" noChangeAspect="1"/>
          </p:cNvPicPr>
          <p:nvPr>
            <p:ph sz="quarter" idx="2"/>
          </p:nvPr>
        </p:nvPicPr>
        <p:blipFill>
          <a:blip r:embed="rId3">
            <a:extLst>
              <a:ext uri="{28A0092B-C50C-407E-A947-70E740481C1C}">
                <a14:useLocalDpi xmlns:a14="http://schemas.microsoft.com/office/drawing/2010/main" val="0"/>
              </a:ext>
            </a:extLst>
          </a:blip>
          <a:stretch>
            <a:fillRect/>
          </a:stretch>
        </p:blipFill>
        <p:spPr>
          <a:xfrm>
            <a:off x="683568" y="1809750"/>
            <a:ext cx="3456384" cy="4608513"/>
          </a:xfrm>
        </p:spPr>
      </p:pic>
    </p:spTree>
    <p:extLst>
      <p:ext uri="{BB962C8B-B14F-4D97-AF65-F5344CB8AC3E}">
        <p14:creationId xmlns:p14="http://schemas.microsoft.com/office/powerpoint/2010/main" val="2444736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67EF89-5725-80FC-D817-DB8B7671F0BB}"/>
              </a:ext>
            </a:extLst>
          </p:cNvPr>
          <p:cNvSpPr>
            <a:spLocks noGrp="1"/>
          </p:cNvSpPr>
          <p:nvPr>
            <p:ph type="title"/>
          </p:nvPr>
        </p:nvSpPr>
        <p:spPr>
          <a:xfrm>
            <a:off x="1363572" y="461818"/>
            <a:ext cx="7772400" cy="914400"/>
          </a:xfrm>
        </p:spPr>
        <p:txBody>
          <a:bodyPr/>
          <a:lstStyle/>
          <a:p>
            <a:r>
              <a:rPr lang="es-EC" sz="2000" b="1" dirty="0"/>
              <a:t>BONDADES DEL PROYECTO MAS ANALISIS FINANCIERO </a:t>
            </a:r>
            <a:br>
              <a:rPr lang="es-EC" sz="2000" b="1" dirty="0"/>
            </a:br>
            <a:r>
              <a:rPr lang="es-EC" sz="2000" b="1" dirty="0"/>
              <a:t>          INVERSIÓN VS RENTABILIDAD</a:t>
            </a:r>
          </a:p>
        </p:txBody>
      </p:sp>
      <p:sp>
        <p:nvSpPr>
          <p:cNvPr id="3" name="Marcador de texto 2">
            <a:extLst>
              <a:ext uri="{FF2B5EF4-FFF2-40B4-BE49-F238E27FC236}">
                <a16:creationId xmlns:a16="http://schemas.microsoft.com/office/drawing/2014/main" id="{19A07526-9104-CF72-4ABC-3C43661D338A}"/>
              </a:ext>
            </a:extLst>
          </p:cNvPr>
          <p:cNvSpPr>
            <a:spLocks noGrp="1"/>
          </p:cNvSpPr>
          <p:nvPr>
            <p:ph type="body" idx="1"/>
          </p:nvPr>
        </p:nvSpPr>
        <p:spPr/>
        <p:txBody>
          <a:bodyPr/>
          <a:lstStyle/>
          <a:p>
            <a:endParaRPr lang="es-EC"/>
          </a:p>
        </p:txBody>
      </p:sp>
      <p:sp>
        <p:nvSpPr>
          <p:cNvPr id="4" name="Marcador de texto 3">
            <a:extLst>
              <a:ext uri="{FF2B5EF4-FFF2-40B4-BE49-F238E27FC236}">
                <a16:creationId xmlns:a16="http://schemas.microsoft.com/office/drawing/2014/main" id="{1AA3ED9F-7439-9683-AEEA-93277B213F8F}"/>
              </a:ext>
            </a:extLst>
          </p:cNvPr>
          <p:cNvSpPr>
            <a:spLocks noGrp="1"/>
          </p:cNvSpPr>
          <p:nvPr>
            <p:ph type="body" sz="half" idx="3"/>
          </p:nvPr>
        </p:nvSpPr>
        <p:spPr/>
        <p:txBody>
          <a:bodyPr/>
          <a:lstStyle/>
          <a:p>
            <a:endParaRPr lang="es-EC"/>
          </a:p>
        </p:txBody>
      </p:sp>
      <p:pic>
        <p:nvPicPr>
          <p:cNvPr id="8" name="Marcador de contenido 7">
            <a:extLst>
              <a:ext uri="{FF2B5EF4-FFF2-40B4-BE49-F238E27FC236}">
                <a16:creationId xmlns:a16="http://schemas.microsoft.com/office/drawing/2014/main" id="{CE641914-88B0-69B7-4822-96D732562AD9}"/>
              </a:ext>
            </a:extLst>
          </p:cNvPr>
          <p:cNvPicPr>
            <a:picLocks noGrp="1" noChangeAspect="1"/>
          </p:cNvPicPr>
          <p:nvPr>
            <p:ph sz="quarter" idx="2"/>
          </p:nvPr>
        </p:nvPicPr>
        <p:blipFill>
          <a:blip r:embed="rId2">
            <a:extLst>
              <a:ext uri="{28A0092B-C50C-407E-A947-70E740481C1C}">
                <a14:useLocalDpi xmlns:a14="http://schemas.microsoft.com/office/drawing/2010/main" val="0"/>
              </a:ext>
            </a:extLst>
          </a:blip>
          <a:stretch>
            <a:fillRect/>
          </a:stretch>
        </p:blipFill>
        <p:spPr>
          <a:xfrm>
            <a:off x="677094" y="2209538"/>
            <a:ext cx="3600400" cy="4213399"/>
          </a:xfrm>
        </p:spPr>
      </p:pic>
      <p:pic>
        <p:nvPicPr>
          <p:cNvPr id="10" name="Marcador de contenido 9">
            <a:extLst>
              <a:ext uri="{FF2B5EF4-FFF2-40B4-BE49-F238E27FC236}">
                <a16:creationId xmlns:a16="http://schemas.microsoft.com/office/drawing/2014/main" id="{716DCE76-A6A3-FC39-500C-5D4CF0974D19}"/>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220072" y="2204864"/>
            <a:ext cx="3024337" cy="4213400"/>
          </a:xfrm>
        </p:spPr>
      </p:pic>
    </p:spTree>
    <p:extLst>
      <p:ext uri="{BB962C8B-B14F-4D97-AF65-F5344CB8AC3E}">
        <p14:creationId xmlns:p14="http://schemas.microsoft.com/office/powerpoint/2010/main" val="3713607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3EEEB0-8153-075E-D74C-E15487819E82}"/>
              </a:ext>
            </a:extLst>
          </p:cNvPr>
          <p:cNvSpPr>
            <a:spLocks noGrp="1"/>
          </p:cNvSpPr>
          <p:nvPr>
            <p:ph type="title"/>
          </p:nvPr>
        </p:nvSpPr>
        <p:spPr/>
        <p:txBody>
          <a:bodyPr/>
          <a:lstStyle/>
          <a:p>
            <a:r>
              <a:rPr lang="es-EC" sz="2400" b="1" dirty="0"/>
              <a:t>BONDADES DEL PROYECTO MAS ANALISIS FINANCIERO </a:t>
            </a:r>
            <a:br>
              <a:rPr lang="es-EC" sz="2400" b="1" dirty="0"/>
            </a:br>
            <a:r>
              <a:rPr lang="es-EC" sz="2400" b="1" dirty="0"/>
              <a:t>          INVERSIÓN VS RENTABILIDAD</a:t>
            </a:r>
            <a:endParaRPr lang="es-EC" sz="2400" dirty="0"/>
          </a:p>
        </p:txBody>
      </p:sp>
      <p:sp>
        <p:nvSpPr>
          <p:cNvPr id="3" name="Marcador de texto 2">
            <a:extLst>
              <a:ext uri="{FF2B5EF4-FFF2-40B4-BE49-F238E27FC236}">
                <a16:creationId xmlns:a16="http://schemas.microsoft.com/office/drawing/2014/main" id="{732A2998-5671-4817-0FFC-FAD798B958F4}"/>
              </a:ext>
            </a:extLst>
          </p:cNvPr>
          <p:cNvSpPr>
            <a:spLocks noGrp="1"/>
          </p:cNvSpPr>
          <p:nvPr>
            <p:ph type="body" idx="1"/>
          </p:nvPr>
        </p:nvSpPr>
        <p:spPr/>
        <p:txBody>
          <a:bodyPr/>
          <a:lstStyle/>
          <a:p>
            <a:endParaRPr lang="es-EC"/>
          </a:p>
        </p:txBody>
      </p:sp>
      <p:sp>
        <p:nvSpPr>
          <p:cNvPr id="4" name="Marcador de texto 3">
            <a:extLst>
              <a:ext uri="{FF2B5EF4-FFF2-40B4-BE49-F238E27FC236}">
                <a16:creationId xmlns:a16="http://schemas.microsoft.com/office/drawing/2014/main" id="{21713320-5000-952A-5153-2F7A147E3C21}"/>
              </a:ext>
            </a:extLst>
          </p:cNvPr>
          <p:cNvSpPr>
            <a:spLocks noGrp="1"/>
          </p:cNvSpPr>
          <p:nvPr>
            <p:ph type="body" sz="half" idx="3"/>
          </p:nvPr>
        </p:nvSpPr>
        <p:spPr/>
        <p:txBody>
          <a:bodyPr/>
          <a:lstStyle/>
          <a:p>
            <a:endParaRPr lang="es-EC"/>
          </a:p>
        </p:txBody>
      </p:sp>
      <p:pic>
        <p:nvPicPr>
          <p:cNvPr id="8" name="Marcador de contenido 7">
            <a:extLst>
              <a:ext uri="{FF2B5EF4-FFF2-40B4-BE49-F238E27FC236}">
                <a16:creationId xmlns:a16="http://schemas.microsoft.com/office/drawing/2014/main" id="{79328D8A-6BDF-2462-E7A8-4FFE5C62890A}"/>
              </a:ext>
            </a:extLst>
          </p:cNvPr>
          <p:cNvPicPr>
            <a:picLocks noGrp="1" noChangeAspect="1"/>
          </p:cNvPicPr>
          <p:nvPr>
            <p:ph sz="quarter" idx="2"/>
          </p:nvPr>
        </p:nvPicPr>
        <p:blipFill>
          <a:blip r:embed="rId2">
            <a:extLst>
              <a:ext uri="{28A0092B-C50C-407E-A947-70E740481C1C}">
                <a14:useLocalDpi xmlns:a14="http://schemas.microsoft.com/office/drawing/2010/main" val="0"/>
              </a:ext>
            </a:extLst>
          </a:blip>
          <a:stretch>
            <a:fillRect/>
          </a:stretch>
        </p:blipFill>
        <p:spPr>
          <a:xfrm>
            <a:off x="899592" y="1916832"/>
            <a:ext cx="3240360" cy="4501431"/>
          </a:xfrm>
        </p:spPr>
      </p:pic>
      <p:pic>
        <p:nvPicPr>
          <p:cNvPr id="10" name="Marcador de contenido 9">
            <a:extLst>
              <a:ext uri="{FF2B5EF4-FFF2-40B4-BE49-F238E27FC236}">
                <a16:creationId xmlns:a16="http://schemas.microsoft.com/office/drawing/2014/main" id="{0B387594-8F87-19C3-838D-37A693B882A4}"/>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148065" y="1916832"/>
            <a:ext cx="3240360" cy="4501431"/>
          </a:xfrm>
        </p:spPr>
      </p:pic>
    </p:spTree>
    <p:extLst>
      <p:ext uri="{BB962C8B-B14F-4D97-AF65-F5344CB8AC3E}">
        <p14:creationId xmlns:p14="http://schemas.microsoft.com/office/powerpoint/2010/main" val="41495200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5A895A-4A2D-E7AE-5EA0-38F99B1685E9}"/>
              </a:ext>
            </a:extLst>
          </p:cNvPr>
          <p:cNvSpPr>
            <a:spLocks noGrp="1"/>
          </p:cNvSpPr>
          <p:nvPr>
            <p:ph type="title"/>
          </p:nvPr>
        </p:nvSpPr>
        <p:spPr>
          <a:xfrm>
            <a:off x="1043608" y="620688"/>
            <a:ext cx="7772400" cy="914400"/>
          </a:xfrm>
        </p:spPr>
        <p:txBody>
          <a:bodyPr/>
          <a:lstStyle/>
          <a:p>
            <a:r>
              <a:rPr lang="es-EC" sz="2000" b="1" dirty="0"/>
              <a:t>BONDADES DEL PROYECTO MAS ANALISIS FINANCIERO </a:t>
            </a:r>
            <a:br>
              <a:rPr lang="es-EC" sz="2000" b="1" dirty="0"/>
            </a:br>
            <a:r>
              <a:rPr lang="es-EC" sz="2000" b="1" dirty="0"/>
              <a:t>          INVERSIÓN VS RENTABILIDAD</a:t>
            </a:r>
            <a:endParaRPr lang="es-EC" sz="2000" dirty="0"/>
          </a:p>
        </p:txBody>
      </p:sp>
      <p:sp>
        <p:nvSpPr>
          <p:cNvPr id="3" name="Marcador de texto 2">
            <a:extLst>
              <a:ext uri="{FF2B5EF4-FFF2-40B4-BE49-F238E27FC236}">
                <a16:creationId xmlns:a16="http://schemas.microsoft.com/office/drawing/2014/main" id="{766755CA-8C44-7948-C687-8D1A57D04EE1}"/>
              </a:ext>
            </a:extLst>
          </p:cNvPr>
          <p:cNvSpPr>
            <a:spLocks noGrp="1"/>
          </p:cNvSpPr>
          <p:nvPr>
            <p:ph type="body" idx="1"/>
          </p:nvPr>
        </p:nvSpPr>
        <p:spPr/>
        <p:txBody>
          <a:bodyPr/>
          <a:lstStyle/>
          <a:p>
            <a:endParaRPr lang="es-EC"/>
          </a:p>
        </p:txBody>
      </p:sp>
      <p:sp>
        <p:nvSpPr>
          <p:cNvPr id="4" name="Marcador de texto 3">
            <a:extLst>
              <a:ext uri="{FF2B5EF4-FFF2-40B4-BE49-F238E27FC236}">
                <a16:creationId xmlns:a16="http://schemas.microsoft.com/office/drawing/2014/main" id="{2838D0BA-0FC3-A01D-6431-351A288E4D0A}"/>
              </a:ext>
            </a:extLst>
          </p:cNvPr>
          <p:cNvSpPr>
            <a:spLocks noGrp="1"/>
          </p:cNvSpPr>
          <p:nvPr>
            <p:ph type="body" sz="half" idx="3"/>
          </p:nvPr>
        </p:nvSpPr>
        <p:spPr/>
        <p:txBody>
          <a:bodyPr/>
          <a:lstStyle/>
          <a:p>
            <a:endParaRPr lang="es-EC"/>
          </a:p>
        </p:txBody>
      </p:sp>
      <p:pic>
        <p:nvPicPr>
          <p:cNvPr id="8" name="Marcador de contenido 7">
            <a:extLst>
              <a:ext uri="{FF2B5EF4-FFF2-40B4-BE49-F238E27FC236}">
                <a16:creationId xmlns:a16="http://schemas.microsoft.com/office/drawing/2014/main" id="{293EAEAC-D696-5B48-0F99-C5B96EE5946E}"/>
              </a:ext>
            </a:extLst>
          </p:cNvPr>
          <p:cNvPicPr>
            <a:picLocks noGrp="1" noChangeAspect="1"/>
          </p:cNvPicPr>
          <p:nvPr>
            <p:ph sz="quarter" idx="2"/>
          </p:nvPr>
        </p:nvPicPr>
        <p:blipFill>
          <a:blip r:embed="rId2">
            <a:extLst>
              <a:ext uri="{28A0092B-C50C-407E-A947-70E740481C1C}">
                <a14:useLocalDpi xmlns:a14="http://schemas.microsoft.com/office/drawing/2010/main" val="0"/>
              </a:ext>
            </a:extLst>
          </a:blip>
          <a:stretch>
            <a:fillRect/>
          </a:stretch>
        </p:blipFill>
        <p:spPr>
          <a:xfrm>
            <a:off x="755576" y="1988840"/>
            <a:ext cx="3168352" cy="4429424"/>
          </a:xfrm>
        </p:spPr>
      </p:pic>
      <p:pic>
        <p:nvPicPr>
          <p:cNvPr id="10" name="Marcador de contenido 9">
            <a:extLst>
              <a:ext uri="{FF2B5EF4-FFF2-40B4-BE49-F238E27FC236}">
                <a16:creationId xmlns:a16="http://schemas.microsoft.com/office/drawing/2014/main" id="{5FC2CF28-0950-E24D-B80E-59B354E69DE8}"/>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4932040" y="1988840"/>
            <a:ext cx="3456383" cy="4429424"/>
          </a:xfrm>
        </p:spPr>
      </p:pic>
    </p:spTree>
    <p:extLst>
      <p:ext uri="{BB962C8B-B14F-4D97-AF65-F5344CB8AC3E}">
        <p14:creationId xmlns:p14="http://schemas.microsoft.com/office/powerpoint/2010/main" val="21943226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D741F7-EED5-56ED-AE8B-F5D3A403FEC1}"/>
              </a:ext>
            </a:extLst>
          </p:cNvPr>
          <p:cNvSpPr>
            <a:spLocks noGrp="1"/>
          </p:cNvSpPr>
          <p:nvPr>
            <p:ph type="title"/>
          </p:nvPr>
        </p:nvSpPr>
        <p:spPr>
          <a:xfrm>
            <a:off x="1619672" y="620688"/>
            <a:ext cx="7772400" cy="914400"/>
          </a:xfrm>
        </p:spPr>
        <p:txBody>
          <a:bodyPr/>
          <a:lstStyle/>
          <a:p>
            <a:r>
              <a:rPr lang="es-EC" sz="1800" b="1" dirty="0"/>
              <a:t>BONDADES DEL PROYECTO MAS ANALISIS FINANCIERO </a:t>
            </a:r>
            <a:br>
              <a:rPr lang="es-EC" sz="1800" b="1" dirty="0"/>
            </a:br>
            <a:r>
              <a:rPr lang="es-EC" sz="1800" b="1" dirty="0"/>
              <a:t>          INVERSIÓN VS RENTABILIDAD</a:t>
            </a:r>
            <a:endParaRPr lang="es-EC" sz="1800" dirty="0"/>
          </a:p>
        </p:txBody>
      </p:sp>
      <p:sp>
        <p:nvSpPr>
          <p:cNvPr id="3" name="Marcador de texto 2">
            <a:extLst>
              <a:ext uri="{FF2B5EF4-FFF2-40B4-BE49-F238E27FC236}">
                <a16:creationId xmlns:a16="http://schemas.microsoft.com/office/drawing/2014/main" id="{FA5BB578-7FD9-14B6-5EEF-CAB51A484C62}"/>
              </a:ext>
            </a:extLst>
          </p:cNvPr>
          <p:cNvSpPr>
            <a:spLocks noGrp="1"/>
          </p:cNvSpPr>
          <p:nvPr>
            <p:ph type="body" idx="1"/>
          </p:nvPr>
        </p:nvSpPr>
        <p:spPr/>
        <p:txBody>
          <a:bodyPr/>
          <a:lstStyle/>
          <a:p>
            <a:endParaRPr lang="es-EC"/>
          </a:p>
        </p:txBody>
      </p:sp>
      <p:sp>
        <p:nvSpPr>
          <p:cNvPr id="4" name="Marcador de texto 3">
            <a:extLst>
              <a:ext uri="{FF2B5EF4-FFF2-40B4-BE49-F238E27FC236}">
                <a16:creationId xmlns:a16="http://schemas.microsoft.com/office/drawing/2014/main" id="{6773BF13-EDEE-5351-ACC2-81D8F58D87FB}"/>
              </a:ext>
            </a:extLst>
          </p:cNvPr>
          <p:cNvSpPr>
            <a:spLocks noGrp="1"/>
          </p:cNvSpPr>
          <p:nvPr>
            <p:ph type="body" sz="half" idx="3"/>
          </p:nvPr>
        </p:nvSpPr>
        <p:spPr/>
        <p:txBody>
          <a:bodyPr/>
          <a:lstStyle/>
          <a:p>
            <a:endParaRPr lang="es-EC"/>
          </a:p>
        </p:txBody>
      </p:sp>
      <p:pic>
        <p:nvPicPr>
          <p:cNvPr id="8" name="Marcador de contenido 7">
            <a:extLst>
              <a:ext uri="{FF2B5EF4-FFF2-40B4-BE49-F238E27FC236}">
                <a16:creationId xmlns:a16="http://schemas.microsoft.com/office/drawing/2014/main" id="{63BAC97D-ADA7-17ED-E25A-6B04B966FB99}"/>
              </a:ext>
            </a:extLst>
          </p:cNvPr>
          <p:cNvPicPr>
            <a:picLocks noGrp="1" noChangeAspect="1"/>
          </p:cNvPicPr>
          <p:nvPr>
            <p:ph sz="quarter" idx="2"/>
          </p:nvPr>
        </p:nvPicPr>
        <p:blipFill>
          <a:blip r:embed="rId2">
            <a:extLst>
              <a:ext uri="{28A0092B-C50C-407E-A947-70E740481C1C}">
                <a14:useLocalDpi xmlns:a14="http://schemas.microsoft.com/office/drawing/2010/main" val="0"/>
              </a:ext>
            </a:extLst>
          </a:blip>
          <a:stretch>
            <a:fillRect/>
          </a:stretch>
        </p:blipFill>
        <p:spPr>
          <a:xfrm>
            <a:off x="827584" y="2132856"/>
            <a:ext cx="3384376" cy="4285407"/>
          </a:xfrm>
        </p:spPr>
      </p:pic>
      <p:pic>
        <p:nvPicPr>
          <p:cNvPr id="10" name="Marcador de contenido 9">
            <a:extLst>
              <a:ext uri="{FF2B5EF4-FFF2-40B4-BE49-F238E27FC236}">
                <a16:creationId xmlns:a16="http://schemas.microsoft.com/office/drawing/2014/main" id="{D8C51E7C-A920-D74F-5FA1-7CD96EF5BDF6}"/>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4932042" y="2132856"/>
            <a:ext cx="3600398" cy="4255245"/>
          </a:xfrm>
        </p:spPr>
      </p:pic>
    </p:spTree>
    <p:extLst>
      <p:ext uri="{BB962C8B-B14F-4D97-AF65-F5344CB8AC3E}">
        <p14:creationId xmlns:p14="http://schemas.microsoft.com/office/powerpoint/2010/main" val="31275347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B3CCD0-4682-B06B-0187-62F7A08D38BD}"/>
              </a:ext>
            </a:extLst>
          </p:cNvPr>
          <p:cNvSpPr>
            <a:spLocks noGrp="1"/>
          </p:cNvSpPr>
          <p:nvPr>
            <p:ph type="title"/>
          </p:nvPr>
        </p:nvSpPr>
        <p:spPr>
          <a:xfrm>
            <a:off x="1358280" y="692696"/>
            <a:ext cx="7772400" cy="914400"/>
          </a:xfrm>
        </p:spPr>
        <p:txBody>
          <a:bodyPr/>
          <a:lstStyle/>
          <a:p>
            <a:r>
              <a:rPr lang="es-EC" sz="2000" b="1" dirty="0"/>
              <a:t>BONDADES DEL PROYECTO MAS ANALISIS FINANCIERO </a:t>
            </a:r>
            <a:br>
              <a:rPr lang="es-EC" sz="2000" b="1" dirty="0"/>
            </a:br>
            <a:r>
              <a:rPr lang="es-EC" sz="2000" b="1" dirty="0"/>
              <a:t>          INVERSIÓN VS RENTABILIDAD</a:t>
            </a:r>
            <a:endParaRPr lang="es-EC" sz="2000" dirty="0"/>
          </a:p>
        </p:txBody>
      </p:sp>
      <p:sp>
        <p:nvSpPr>
          <p:cNvPr id="3" name="Marcador de texto 2">
            <a:extLst>
              <a:ext uri="{FF2B5EF4-FFF2-40B4-BE49-F238E27FC236}">
                <a16:creationId xmlns:a16="http://schemas.microsoft.com/office/drawing/2014/main" id="{7724389A-17D2-CF96-BD27-4D91FD5E0AC0}"/>
              </a:ext>
            </a:extLst>
          </p:cNvPr>
          <p:cNvSpPr>
            <a:spLocks noGrp="1"/>
          </p:cNvSpPr>
          <p:nvPr>
            <p:ph type="body" idx="1"/>
          </p:nvPr>
        </p:nvSpPr>
        <p:spPr/>
        <p:txBody>
          <a:bodyPr/>
          <a:lstStyle/>
          <a:p>
            <a:endParaRPr lang="es-EC"/>
          </a:p>
        </p:txBody>
      </p:sp>
      <p:sp>
        <p:nvSpPr>
          <p:cNvPr id="4" name="Marcador de texto 3">
            <a:extLst>
              <a:ext uri="{FF2B5EF4-FFF2-40B4-BE49-F238E27FC236}">
                <a16:creationId xmlns:a16="http://schemas.microsoft.com/office/drawing/2014/main" id="{4FD2A3AD-5C08-B181-702E-48036AEAEC93}"/>
              </a:ext>
            </a:extLst>
          </p:cNvPr>
          <p:cNvSpPr>
            <a:spLocks noGrp="1"/>
          </p:cNvSpPr>
          <p:nvPr>
            <p:ph type="body" sz="half" idx="3"/>
          </p:nvPr>
        </p:nvSpPr>
        <p:spPr/>
        <p:txBody>
          <a:bodyPr/>
          <a:lstStyle/>
          <a:p>
            <a:endParaRPr lang="es-EC"/>
          </a:p>
        </p:txBody>
      </p:sp>
      <p:pic>
        <p:nvPicPr>
          <p:cNvPr id="8" name="Marcador de contenido 7">
            <a:extLst>
              <a:ext uri="{FF2B5EF4-FFF2-40B4-BE49-F238E27FC236}">
                <a16:creationId xmlns:a16="http://schemas.microsoft.com/office/drawing/2014/main" id="{4093292D-EB07-800F-C96C-CDECE80BBAE8}"/>
              </a:ext>
            </a:extLst>
          </p:cNvPr>
          <p:cNvPicPr>
            <a:picLocks noGrp="1" noChangeAspect="1"/>
          </p:cNvPicPr>
          <p:nvPr>
            <p:ph sz="quarter" idx="2"/>
          </p:nvPr>
        </p:nvPicPr>
        <p:blipFill>
          <a:blip r:embed="rId2">
            <a:extLst>
              <a:ext uri="{28A0092B-C50C-407E-A947-70E740481C1C}">
                <a14:useLocalDpi xmlns:a14="http://schemas.microsoft.com/office/drawing/2010/main" val="0"/>
              </a:ext>
            </a:extLst>
          </a:blip>
          <a:stretch>
            <a:fillRect/>
          </a:stretch>
        </p:blipFill>
        <p:spPr>
          <a:xfrm>
            <a:off x="755576" y="1988840"/>
            <a:ext cx="3600400" cy="4480575"/>
          </a:xfrm>
        </p:spPr>
      </p:pic>
      <p:pic>
        <p:nvPicPr>
          <p:cNvPr id="10" name="Marcador de contenido 9">
            <a:extLst>
              <a:ext uri="{FF2B5EF4-FFF2-40B4-BE49-F238E27FC236}">
                <a16:creationId xmlns:a16="http://schemas.microsoft.com/office/drawing/2014/main" id="{1A7B63F7-FE3E-814F-1039-305ACBA666ED}"/>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4788026" y="1988840"/>
            <a:ext cx="3456381" cy="4429423"/>
          </a:xfrm>
        </p:spPr>
      </p:pic>
    </p:spTree>
    <p:extLst>
      <p:ext uri="{BB962C8B-B14F-4D97-AF65-F5344CB8AC3E}">
        <p14:creationId xmlns:p14="http://schemas.microsoft.com/office/powerpoint/2010/main" val="9915522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4A1541-5B85-B1FC-184C-5133EEB6F363}"/>
              </a:ext>
            </a:extLst>
          </p:cNvPr>
          <p:cNvSpPr>
            <a:spLocks noGrp="1"/>
          </p:cNvSpPr>
          <p:nvPr>
            <p:ph type="title"/>
          </p:nvPr>
        </p:nvSpPr>
        <p:spPr>
          <a:xfrm>
            <a:off x="914400" y="869950"/>
            <a:ext cx="7772400" cy="914400"/>
          </a:xfrm>
        </p:spPr>
        <p:txBody>
          <a:bodyPr/>
          <a:lstStyle/>
          <a:p>
            <a:pPr algn="ctr"/>
            <a:r>
              <a:rPr lang="es-EC" sz="2400" b="1" dirty="0"/>
              <a:t>GRACIAS</a:t>
            </a:r>
            <a:endParaRPr lang="es-EC" sz="2400" dirty="0"/>
          </a:p>
        </p:txBody>
      </p:sp>
      <p:pic>
        <p:nvPicPr>
          <p:cNvPr id="9" name="Marcador de contenido 8">
            <a:extLst>
              <a:ext uri="{FF2B5EF4-FFF2-40B4-BE49-F238E27FC236}">
                <a16:creationId xmlns:a16="http://schemas.microsoft.com/office/drawing/2014/main" id="{8898CF02-0D71-851F-9B02-6C03E33238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03603" y="1784350"/>
            <a:ext cx="6993994" cy="4572000"/>
          </a:xfrm>
        </p:spPr>
      </p:pic>
    </p:spTree>
    <p:extLst>
      <p:ext uri="{BB962C8B-B14F-4D97-AF65-F5344CB8AC3E}">
        <p14:creationId xmlns:p14="http://schemas.microsoft.com/office/powerpoint/2010/main" val="827604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Template>
  <TotalTime>675</TotalTime>
  <Words>2776</Words>
  <Application>Microsoft Office PowerPoint</Application>
  <PresentationFormat>Presentación en pantalla (4:3)</PresentationFormat>
  <Paragraphs>119</Paragraphs>
  <Slides>26</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26</vt:i4>
      </vt:variant>
    </vt:vector>
  </HeadingPairs>
  <TitlesOfParts>
    <vt:vector size="33" baseType="lpstr">
      <vt:lpstr>Arial</vt:lpstr>
      <vt:lpstr>Consolas</vt:lpstr>
      <vt:lpstr>Corbel</vt:lpstr>
      <vt:lpstr>Wingdings</vt:lpstr>
      <vt:lpstr>Wingdings 2</vt:lpstr>
      <vt:lpstr>Wingdings 3</vt:lpstr>
      <vt:lpstr>Metro</vt:lpstr>
      <vt:lpstr>Dr Luis Anzoátegui León 16/02/2026</vt:lpstr>
      <vt:lpstr>          PROYECTO “AMED EC”  ASISTENCIA MEDICA ECUADOR   Machala–el oro-ecuador</vt:lpstr>
      <vt:lpstr>        “AMED EC” ASISTENCIA MEDICA ECUADOR</vt:lpstr>
      <vt:lpstr>        “AMED EC” ASISTENCIA MEDICA ECUADOR</vt:lpstr>
      <vt:lpstr>          “AMED EC”   ASISTENCIA MEDICA ECUADOR</vt:lpstr>
      <vt:lpstr>        “AMED EC”           ASISTENCIA MÉDICA ECUADOR</vt:lpstr>
      <vt:lpstr>Podrán los  Miembros Médicos de AMED acceder mediantes planes prepagados a Publicidad Medica en nuestras redes sociales de Facebook, Instagram, TIK TOK Y LINKEDIN con Pautas publicitarias en donde el vender los servicios medicos en redes no pase desapercibido, Pues el momento de llevar sus servicios medicos a las redes sociales y al mundo digital virtual expande y asegura un amplio universo de pacientes ampliando su cobertura total.  </vt:lpstr>
      <vt:lpstr>       “AMED EC”           ASISTENCIA MÉDICA ECUADOR</vt:lpstr>
      <vt:lpstr>                   “AMED EC”           ASISTENCIA MÉDICA ECUADOR</vt:lpstr>
      <vt:lpstr>           “AMED EC”                    ASISTENCIA MÉDICA ECUADOR</vt:lpstr>
      <vt:lpstr>                   “AMED EC”           ASISTENCIA MEDICA ECUADOR</vt:lpstr>
      <vt:lpstr>PROYECCION DEL COLEGIO DE MEDICOS DE EL ORO JUNTO A AMED</vt:lpstr>
      <vt:lpstr>BENEFICIOS COMERCIALES DE AMED</vt:lpstr>
      <vt:lpstr>BENEFICIOS COMERCIALES DE AMED</vt:lpstr>
      <vt:lpstr>REQUERIMIENTOS de AMED para su Funcionamiento al Publico</vt:lpstr>
      <vt:lpstr>  TALENTO HUMANO DE AMED</vt:lpstr>
      <vt:lpstr>GRACIAS POR SU ATENCIÓN</vt:lpstr>
      <vt:lpstr>BONDADES DEL PROYECTO + ANALISIS FINANCIERO            INVERSIÓN VS RENTABILIDAD</vt:lpstr>
      <vt:lpstr>BONDADES DEL PROYECTO MAS ANALISIS FINANCIERO            INVERSIÓN VS RENTABILIDAD</vt:lpstr>
      <vt:lpstr>BONDADES DEL PROYECTO MAS ANALISIS FINANCIERO            INVERSIÓN VS RENTABILIDAD</vt:lpstr>
      <vt:lpstr>BONDADES DEL PROYECTO MAS ANALISIS FINANCIERO            INVERSIÓN VS RENTABILIDAD</vt:lpstr>
      <vt:lpstr>BONDADES DEL PROYECTO MAS ANALISIS FINANCIERO            INVERSIÓN VS RENTABILIDAD</vt:lpstr>
      <vt:lpstr>BONDADES DEL PROYECTO MAS ANALISIS FINANCIERO            INVERSIÓN VS RENTABILIDAD</vt:lpstr>
      <vt:lpstr>BONDADES DEL PROYECTO MAS ANALISIS FINANCIERO            INVERSIÓN VS RENTABILIDAD</vt:lpstr>
      <vt:lpstr>BONDADES DEL PROYECTO MAS ANALISIS FINANCIERO            INVERSIÓN VS RENTABILIDAD</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HP</dc:creator>
  <cp:lastModifiedBy>USER</cp:lastModifiedBy>
  <cp:revision>66</cp:revision>
  <dcterms:created xsi:type="dcterms:W3CDTF">2023-07-05T17:43:56Z</dcterms:created>
  <dcterms:modified xsi:type="dcterms:W3CDTF">2026-02-16T10:33:58Z</dcterms:modified>
</cp:coreProperties>
</file>